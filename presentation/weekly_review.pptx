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Fairness in LOS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Md Rakibul Islam Joy | Masters by Research |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600"/>
            </a:pPr>
            <a:r>
              <a:t>Research Question: How reliable are fairness metrics in ML-based LOS prediction?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Dataset: Texas-100X — 925,128 hospital discharge records</a:t>
            </a:r>
          </a:p>
          <a:p>
            <a:pPr>
              <a:spcAft>
                <a:spcPts val="600"/>
              </a:spcAft>
              <a:defRPr sz="1600"/>
            </a:pPr>
            <a:r>
              <a:t>Target: Length of Stay &gt; 3 days (binary classification)</a:t>
            </a:r>
          </a:p>
          <a:p>
            <a:pPr>
              <a:spcAft>
                <a:spcPts val="600"/>
              </a:spcAft>
              <a:defRPr sz="1600"/>
            </a:pPr>
            <a:r>
              <a:t>Features: 12 original columns → 35+ engineered features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Reference: Tarek et al. (2025) CHASE '25</a:t>
            </a:r>
          </a:p>
          <a:p>
            <a:pPr>
              <a:spcAft>
                <a:spcPts val="600"/>
              </a:spcAft>
              <a:defRPr sz="1600"/>
            </a:pPr>
            <a:r>
              <a:t>  — 'Reliability of Fairness Metrics under Synthetic Augmentation'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600"/>
            </a:pPr>
            <a:r>
              <a:t>Feature Engineering:</a:t>
            </a:r>
          </a:p>
          <a:p>
            <a:pPr>
              <a:spcAft>
                <a:spcPts val="600"/>
              </a:spcAft>
              <a:defRPr sz="1600"/>
            </a:pPr>
            <a:r>
              <a:t>  • Target encoding (Bayesian smoothing) for diagnosis/procedure/hospital</a:t>
            </a:r>
          </a:p>
          <a:p>
            <a:pPr>
              <a:spcAft>
                <a:spcPts val="600"/>
              </a:spcAft>
              <a:defRPr sz="1600"/>
            </a:pPr>
            <a:r>
              <a:t>  • Hospital-level features (+3.3% F1 improvement)</a:t>
            </a:r>
          </a:p>
          <a:p>
            <a:pPr>
              <a:spcAft>
                <a:spcPts val="600"/>
              </a:spcAft>
              <a:defRPr sz="1600"/>
            </a:pPr>
            <a:r>
              <a:t>  • Interaction features, one-hot encoding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Models: 6 ML models + Stacking Ensemble</a:t>
            </a:r>
          </a:p>
          <a:p>
            <a:pPr>
              <a:spcAft>
                <a:spcPts val="600"/>
              </a:spcAft>
              <a:defRPr sz="1600"/>
            </a:pPr>
            <a:r>
              <a:t>  • LR, RF, GB, XGBoost(GPU), LightGBM(GPU), PyTorch DNN(GPU)</a:t>
            </a:r>
          </a:p>
          <a:p>
            <a:pPr>
              <a:spcAft>
                <a:spcPts val="600"/>
              </a:spcAft>
              <a:defRPr sz="1600"/>
            </a:pPr>
            <a:r>
              <a:t>  • Hyperparameters: 50-agent parallel optimization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Fairness: 6 metrics × 4 protected attributes</a:t>
            </a:r>
          </a:p>
          <a:p>
            <a:pPr>
              <a:spcAft>
                <a:spcPts val="600"/>
              </a:spcAft>
              <a:defRPr sz="1600"/>
            </a:pPr>
            <a:r>
              <a:t>  • DI, WTPR, SPD, EOD, PPV Ratio, Equalized Odds</a:t>
            </a:r>
          </a:p>
          <a:p>
            <a:pPr>
              <a:spcAft>
                <a:spcPts val="600"/>
              </a:spcAft>
              <a:defRPr sz="1600"/>
            </a:pPr>
            <a:r>
              <a:t>  • Race, Ethnicity, Sex, Age 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600"/>
            </a:pPr>
            <a:r>
              <a:t>Best Model: LightGBM (GPU)</a:t>
            </a:r>
          </a:p>
          <a:p>
            <a:pPr>
              <a:spcAft>
                <a:spcPts val="600"/>
              </a:spcAft>
              <a:defRPr sz="1600"/>
            </a:pPr>
            <a:r>
              <a:t>  • Accuracy: 0.879  |  F1: 0.864  |  AUC: 0.954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Model Comparison:</a:t>
            </a:r>
          </a:p>
          <a:p>
            <a:pPr>
              <a:spcAft>
                <a:spcPts val="600"/>
              </a:spcAft>
              <a:defRPr sz="1600"/>
            </a:pPr>
            <a:r>
              <a:t>  LR:  Acc=0.802  F1=0.784  AUC=0.884</a:t>
            </a:r>
          </a:p>
          <a:p>
            <a:pPr>
              <a:spcAft>
                <a:spcPts val="600"/>
              </a:spcAft>
              <a:defRPr sz="1600"/>
            </a:pPr>
            <a:r>
              <a:t>  RF:  Acc=0.862  F1=0.848  AUC=0.941</a:t>
            </a:r>
          </a:p>
          <a:p>
            <a:pPr>
              <a:spcAft>
                <a:spcPts val="600"/>
              </a:spcAft>
              <a:defRPr sz="1600"/>
            </a:pPr>
            <a:r>
              <a:t>  GB:  Acc=0.874  F1=0.858  AUC=0.950</a:t>
            </a:r>
          </a:p>
          <a:p>
            <a:pPr>
              <a:spcAft>
                <a:spcPts val="600"/>
              </a:spcAft>
              <a:defRPr sz="1600"/>
            </a:pPr>
            <a:r>
              <a:t>  XGB: Acc=0.878  F1=0.863  AUC=0.953</a:t>
            </a:r>
          </a:p>
          <a:p>
            <a:pPr>
              <a:spcAft>
                <a:spcPts val="600"/>
              </a:spcAft>
              <a:defRPr sz="1600"/>
            </a:pPr>
            <a:r>
              <a:t>  LGB: Acc=0.879  F1=0.864  AUC=0.954  *** BEST ***</a:t>
            </a:r>
          </a:p>
          <a:p>
            <a:pPr>
              <a:spcAft>
                <a:spcPts val="600"/>
              </a:spcAft>
              <a:defRPr sz="1600"/>
            </a:pPr>
            <a:r>
              <a:t>  DNN: Acc=0.857  F1=0.843  AUC=0.938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Key: Hospital features → +3.3% F1 improvement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Fairness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600"/>
            </a:pPr>
            <a:r>
              <a:t>Disparate Impact (Race DI = 0.64, below 0.8 threshold)</a:t>
            </a:r>
          </a:p>
          <a:p>
            <a:pPr>
              <a:spcAft>
                <a:spcPts val="600"/>
              </a:spcAft>
              <a:defRPr sz="1600"/>
            </a:pPr>
            <a:r>
              <a:t>ETHNICITY: DI=0.83 (FAIR) | SEX: DI=0.76 | AGE: DI=0.25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Fairness Intervention (λ=5.0 Reweighing):</a:t>
            </a:r>
          </a:p>
          <a:p>
            <a:pPr>
              <a:spcAft>
                <a:spcPts val="600"/>
              </a:spcAft>
              <a:defRPr sz="1600"/>
            </a:pPr>
            <a:r>
              <a:t>  Standard: F1=0.864, DI=0.64, WTPR=0.84</a:t>
            </a:r>
          </a:p>
          <a:p>
            <a:pPr>
              <a:spcAft>
                <a:spcPts val="600"/>
              </a:spcAft>
              <a:defRPr sz="1600"/>
            </a:pPr>
            <a:r>
              <a:t>  Fair:     F1=0.854, DI=0.68, WTPR=0.81</a:t>
            </a:r>
          </a:p>
          <a:p>
            <a:pPr>
              <a:spcAft>
                <a:spcPts val="600"/>
              </a:spcAft>
              <a:defRPr sz="1600"/>
            </a:pPr>
            <a:r>
              <a:t>  → DI improves +6.3% with only -1.2% F1 cost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Subset Stability (1K to Full):</a:t>
            </a:r>
          </a:p>
          <a:p>
            <a:pPr>
              <a:spcAft>
                <a:spcPts val="600"/>
              </a:spcAft>
              <a:defRPr sz="1600"/>
            </a:pPr>
            <a:r>
              <a:t>  • DI unstable below 5K (CV&gt;10%)</a:t>
            </a:r>
          </a:p>
          <a:p>
            <a:pPr>
              <a:spcAft>
                <a:spcPts val="600"/>
              </a:spcAft>
              <a:defRPr sz="1600"/>
            </a:pPr>
            <a:r>
              <a:t>  • Metrics stabilize at 10K+ samples</a:t>
            </a:r>
          </a:p>
          <a:p>
            <a:pPr>
              <a:spcAft>
                <a:spcPts val="600"/>
              </a:spcAft>
              <a:defRPr sz="1600"/>
            </a:pPr>
            <a:r>
              <a:t>  • EOD is most volatile metric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Reference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600"/>
            </a:pPr>
            <a:r>
              <a:t>Tarek et al. (2025) — MIMIC-III, ~5K samples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           Paper Best    Ours        Improvement</a:t>
            </a:r>
          </a:p>
          <a:p>
            <a:pPr>
              <a:spcAft>
                <a:spcPts val="600"/>
              </a:spcAft>
              <a:defRPr sz="1600"/>
            </a:pPr>
            <a:r>
              <a:t>  F1:      0.550         0.864       +31.4pp (+57%)</a:t>
            </a:r>
          </a:p>
          <a:p>
            <a:pPr>
              <a:spcAft>
                <a:spcPts val="600"/>
              </a:spcAft>
              <a:defRPr sz="1600"/>
            </a:pPr>
            <a:r>
              <a:t>  DI:      1.110         0.828       —</a:t>
            </a:r>
          </a:p>
          <a:p>
            <a:pPr>
              <a:spcAft>
                <a:spcPts val="600"/>
              </a:spcAft>
              <a:defRPr sz="1600"/>
            </a:pPr>
            <a:r>
              <a:t>  WTPR:    0.830         0.839       +0.9pp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Our F1 is 57% higher than paper's best</a:t>
            </a:r>
          </a:p>
          <a:p>
            <a:pPr>
              <a:spcAft>
                <a:spcPts val="600"/>
              </a:spcAft>
              <a:defRPr sz="1600"/>
            </a:pPr>
            <a:r>
              <a:t>Dataset: 925K vs 5K (185x larger)</a:t>
            </a:r>
          </a:p>
          <a:p>
            <a:pPr>
              <a:spcAft>
                <a:spcPts val="600"/>
              </a:spcAft>
              <a:defRPr sz="1600"/>
            </a:pPr>
            <a:r>
              <a:t>Models: GPU-accelerated + 50-agent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600"/>
            </a:pPr>
            <a:r>
              <a:t>Key Contributions:</a:t>
            </a:r>
          </a:p>
          <a:p>
            <a:pPr>
              <a:spcAft>
                <a:spcPts val="600"/>
              </a:spcAft>
              <a:defRPr sz="1600"/>
            </a:pPr>
            <a:r>
              <a:t>  1. +31% F1 improvement over reference paper</a:t>
            </a:r>
          </a:p>
          <a:p>
            <a:pPr>
              <a:spcAft>
                <a:spcPts val="600"/>
              </a:spcAft>
              <a:defRPr sz="1600"/>
            </a:pPr>
            <a:r>
              <a:t>  2. Hospital features as key accuracy driver</a:t>
            </a:r>
          </a:p>
          <a:p>
            <a:pPr>
              <a:spcAft>
                <a:spcPts val="600"/>
              </a:spcAft>
              <a:defRPr sz="1600"/>
            </a:pPr>
            <a:r>
              <a:t>  3. Comprehensive fairness metric stability analysis (9 sizes)</a:t>
            </a:r>
          </a:p>
          <a:p>
            <a:pPr>
              <a:spcAft>
                <a:spcPts val="600"/>
              </a:spcAft>
              <a:defRPr sz="1600"/>
            </a:pPr>
            <a:r>
              <a:t>  4. Minimum 10K samples for reliable fairness assessment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Limitations:</a:t>
            </a:r>
          </a:p>
          <a:p>
            <a:pPr>
              <a:spcAft>
                <a:spcPts val="600"/>
              </a:spcAft>
              <a:defRPr sz="1600"/>
            </a:pPr>
            <a:r>
              <a:t>  • Accuracy ceiling ~88% (limited features, fairness constraint)</a:t>
            </a:r>
          </a:p>
          <a:p>
            <a:pPr>
              <a:spcAft>
                <a:spcPts val="600"/>
              </a:spcAft>
              <a:defRPr sz="1600"/>
            </a:pPr>
            <a:r>
              <a:t>  • AGE_GROUP fairness remains challenging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Next Steps:</a:t>
            </a:r>
          </a:p>
          <a:p>
            <a:pPr>
              <a:spcAft>
                <a:spcPts val="600"/>
              </a:spcAft>
              <a:defRPr sz="1600"/>
            </a:pPr>
            <a:r>
              <a:t>  • Cross-dataset validation (MIMIC-III)</a:t>
            </a:r>
          </a:p>
          <a:p>
            <a:pPr>
              <a:spcAft>
                <a:spcPts val="600"/>
              </a:spcAft>
              <a:defRPr sz="1600"/>
            </a:pPr>
            <a:r>
              <a:t>  • Multi-class LOS prediction</a:t>
            </a:r>
          </a:p>
          <a:p>
            <a:pPr>
              <a:spcAft>
                <a:spcPts val="600"/>
              </a:spcAft>
              <a:defRPr sz="1600"/>
            </a:pPr>
            <a:r>
              <a:t>  • Causal fairness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