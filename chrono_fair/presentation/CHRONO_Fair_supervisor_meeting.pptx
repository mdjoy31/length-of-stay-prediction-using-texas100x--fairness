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5156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E69A21"/>
                </a:solidFill>
                <a:latin typeface="Calibri"/>
              </a:rPr>
              <a:t>Supervisor planning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10789920" cy="1463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6200" b="1" i="0">
                <a:solidFill>
                  <a:srgbClr val="F3EFE3"/>
                </a:solidFill>
                <a:latin typeface="Calibri"/>
              </a:rPr>
              <a:t>CHRONO-Fair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789920" cy="12801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0" i="0">
                <a:solidFill>
                  <a:srgbClr val="F3EFE3"/>
                </a:solidFill>
                <a:latin typeface="Calibri"/>
              </a:rPr>
              <a:t>Time-Resolved Counterfactual Fairness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10789920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0" i="0">
                <a:solidFill>
                  <a:srgbClr val="F3EFE3"/>
                </a:solidFill>
                <a:latin typeface="Calibri"/>
              </a:rPr>
              <a:t>for Clinical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7899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500" b="0" i="1">
                <a:solidFill>
                  <a:srgbClr val="E9E4D6"/>
                </a:solidFill>
                <a:latin typeface="Calibri"/>
              </a:rPr>
              <a:t>Extending the prior VFR-Audit three-axis static auditing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03520"/>
            <a:ext cx="107899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E9E4D6"/>
                </a:solidFill>
                <a:latin typeface="Calibri"/>
              </a:rPr>
              <a:t>Target venue: Q1 digital-health / health-informatics journal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5989320"/>
            <a:ext cx="2286000" cy="4572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126480"/>
            <a:ext cx="10789920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E9E4D6"/>
                </a:solidFill>
                <a:latin typeface="Calibri"/>
              </a:rPr>
              <a:t>Anonymous draft, in-progress research, not finalised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Where clinical ML stands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Adoption is up, post-release subgroup failures are up, tooling has not caught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11155680" cy="4754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0E2B36"/>
                </a:solidFill>
                <a:latin typeface="Calibri"/>
              </a:rPr>
              <a:t>•  Clinical ML supports triage, risk scoring, and length-of-stay prediction across many sites [1, 2].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0E2B36"/>
                </a:solidFill>
                <a:latin typeface="Calibri"/>
              </a:rPr>
              <a:t>•  Post-release subgroup failures are documented across radiology, sepsis, kidney function, and care-allocation models [3, 4, 5, 6].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0E2B36"/>
                </a:solidFill>
                <a:latin typeface="Calibri"/>
              </a:rPr>
              <a:t>•  Regulatory expectations have shifted toward continuous lifecycle monitoring [7, 8] with reporting standards from DECIDE-AI, TRIPOD+AI, CONSORT-AI, and STANDING Together [9, 10, 11, 12].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0E2B36"/>
                </a:solidFill>
                <a:latin typeface="Calibri"/>
              </a:rPr>
              <a:t>•  Auditing toolkits in routine use return a thresholded pass-or-fail verdict on a fixed snapshot [13, 14, 15, 16].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>
                <a:solidFill>
                  <a:srgbClr val="0E2B36"/>
                </a:solidFill>
                <a:latin typeface="Calibri"/>
              </a:rPr>
              <a:t>•  That verdict is the object hospitals act on. The snapshot tells us nothing about its stability over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Our prior VFR-Audit study (static audit framework)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Three audit-reliability axes, evaluated on real Texas-100X (925,128 records) [17]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548640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73152" cy="4297680"/>
          </a:xfrm>
          <a:prstGeom prst="rect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81912"/>
            <a:ext cx="52120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218896"/>
                </a:solidFill>
                <a:latin typeface="Calibri"/>
              </a:rPr>
              <a:t>Three-axis static auditing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5212080" cy="3749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>
                <a:solidFill>
                  <a:srgbClr val="5A6066"/>
                </a:solidFill>
                <a:latin typeface="Calibri"/>
              </a:rPr>
              <a:t>•  Axis 1: resampling fluctuation of the fairness verdict.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>
                <a:solidFill>
                  <a:srgbClr val="5A6066"/>
                </a:solidFill>
                <a:latin typeface="Calibri"/>
              </a:rPr>
              <a:t>•  Axis 2: audit-size sensitivity of the fairness verdict.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>
                <a:solidFill>
                  <a:srgbClr val="5A6066"/>
                </a:solidFill>
                <a:latin typeface="Calibri"/>
              </a:rPr>
              <a:t>•  Axis 3: cross-hospital-site agreement of the fairness verdict.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>
                <a:solidFill>
                  <a:srgbClr val="5A6066"/>
                </a:solidFill>
                <a:latin typeface="Calibri"/>
              </a:rPr>
              <a:t>•  Defines the Verdict Flip Rate (VFR), a scalar static-stability measure.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>
                <a:solidFill>
                  <a:srgbClr val="5A6066"/>
                </a:solidFill>
                <a:latin typeface="Calibri"/>
              </a:rPr>
              <a:t>•  Defines the Standard / Fair monitored-model setup at release time.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4864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749807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Std DI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Fair DI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</a:tr>
              <a:tr h="74980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fail to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fail to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Ethnicity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pass to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Age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0.801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fail to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5349240"/>
            <a:ext cx="5486400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5A6066"/>
                </a:solidFill>
                <a:latin typeface="Calibri"/>
              </a:rPr>
              <a:t>Std Acc 0.8777 to Fair Acc 0.8248 (reduction of 5.28 pp)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897880"/>
            <a:ext cx="1124712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6066"/>
                </a:solidFill>
                <a:latin typeface="Calibri"/>
              </a:rPr>
              <a:t>Cited as the static predecessor. The pre-release adjustment is not a contribution of CHRONO-Fair.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The remaining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The verdict can be stable as a snapshot but unstable across resamples or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2471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73152" cy="1097280"/>
          </a:xfrm>
          <a:prstGeom prst="rect">
            <a:avLst/>
          </a:prstGeom>
          <a:solidFill>
            <a:srgbClr val="C2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972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C2433F"/>
                </a:solidFill>
                <a:latin typeface="Calibri"/>
              </a:rPr>
              <a:t>Real Texas-100X anchor finding (925,128 records) [17]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972800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The worst-group true-positive-rate verdict for race reads "fair" at 0.824. The same verdict flips to "unfair" in 4 of 20 hospital-network resamples, a Verdict Flip Rate of 0.20. A batch audit cannot tell when, or whether, that verdict reversal recurs as new patients arrive.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8892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788920"/>
            <a:ext cx="73152" cy="320040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62072"/>
            <a:ext cx="24688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E69A21"/>
                </a:solidFill>
                <a:latin typeface="Calibri"/>
              </a:rPr>
              <a:t>Gap 1. Time 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2468880" cy="2651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Batch verdicts give no timestamp for when a fairness gap opened [13, 14, 15].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278892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788920"/>
            <a:ext cx="73152" cy="320040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862072"/>
            <a:ext cx="24688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E69A21"/>
                </a:solidFill>
                <a:latin typeface="Calibri"/>
              </a:rPr>
              <a:t>Gap 2. Peeking penalty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291840"/>
            <a:ext cx="2468880" cy="2651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Repeated inspection inflates false-alarm rates without a sequential guarantee [18, 19, 20].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78892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788920"/>
            <a:ext cx="73152" cy="320040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862072"/>
            <a:ext cx="24688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E69A21"/>
                </a:solidFill>
                <a:latin typeface="Calibri"/>
              </a:rPr>
              <a:t>Gap 3. Diagnostic 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291840"/>
            <a:ext cx="2468880" cy="2651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A detected gap with no triage signal does not tell a team whether to fix data or collect more samples [21, 22].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278892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2788920"/>
            <a:ext cx="73152" cy="320040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2862072"/>
            <a:ext cx="24688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E69A21"/>
                </a:solidFill>
                <a:latin typeface="Calibri"/>
              </a:rPr>
              <a:t>Gap 4. Regression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291840"/>
            <a:ext cx="2468880" cy="2651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Length-of-stay and similar continuous outputs lack a flip-rate or verdict-stability extension [23].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Closest related work, named and positioned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Each entry falls short on at least one axis the next slide addresses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3721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Tool / work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Closest gap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</a:tr>
              <a:tr h="5372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Aequitas [13]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Per-attribute parity-ratio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No streaming alarm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Fairlearn [14]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Group fairness metrics; reduction mitigator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No verdict-flip monitoring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</a:tr>
              <a:tr h="5372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AIF360 [15]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Library of around 20 fairness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Snapshot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Microsoft RAI Dashboard [16]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Notebook batch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Fairlearn + interpret + counterfactuals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Developer review, not governance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</a:tr>
              <a:tr h="5372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Davis et al. [2]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Quarterly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Subgroup performance trend, 11 yrs 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No per-cell sequential alarm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Prediction sensitivity [22]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Per batch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Counterfactual-flip rate scalar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No alarm rule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</a:tr>
              <a:tr h="53721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VFR-Audit (our prior work) [17]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Static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Verdict Flip Rate scalar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No time axis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43600"/>
            <a:ext cx="11247120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6066"/>
                </a:solidFill>
                <a:latin typeface="Calibri"/>
              </a:rPr>
              <a:t>Anytime-valid statistical machinery exists [18, 19, 20] but has not been applied to counterfactual fairness verdicts at intersectional granularity.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Our planned extension, 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F3EFE3"/>
                </a:solidFill>
                <a:latin typeface="Calibri"/>
              </a:rPr>
              <a:t>Our planned extension, in one sentence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332720" cy="2011680"/>
          </a:xfrm>
          <a:prstGeom prst="roundRect">
            <a:avLst>
              <a:gd name="adj" fmla="val 10000"/>
            </a:avLst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784080" cy="1645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2000" b="1" i="0">
                <a:solidFill>
                  <a:srgbClr val="0E2B36"/>
                </a:solidFill>
                <a:latin typeface="Calibri"/>
              </a:rPr>
              <a:t>CHRONO-Fair contributes a post-release, time-resolved monitoring layer for thresholded fairness verdicts using a per-cell anytime-valid e-process on counterfactual flip indicators.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2697480" cy="777240"/>
          </a:xfrm>
          <a:prstGeom prst="roundRect">
            <a:avLst>
              <a:gd name="adj" fmla="val 35000"/>
            </a:avLst>
          </a:prstGeom>
          <a:solidFill>
            <a:srgbClr val="071C24"/>
          </a:solidFill>
          <a:ln w="19050">
            <a:solidFill>
              <a:srgbClr val="218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864608"/>
            <a:ext cx="2514600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218896"/>
                </a:solidFill>
                <a:latin typeface="Calibri"/>
              </a:rPr>
              <a:t>Monitor, not mitigator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4754880"/>
            <a:ext cx="2697480" cy="777240"/>
          </a:xfrm>
          <a:prstGeom prst="roundRect">
            <a:avLst>
              <a:gd name="adj" fmla="val 35000"/>
            </a:avLst>
          </a:prstGeom>
          <a:solidFill>
            <a:srgbClr val="071C24"/>
          </a:solidFill>
          <a:ln w="19050">
            <a:solidFill>
              <a:srgbClr val="E69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4864608"/>
            <a:ext cx="2514600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E69A21"/>
                </a:solidFill>
                <a:latin typeface="Calibri"/>
              </a:rPr>
              <a:t>Begins after Standard to Fair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754880"/>
            <a:ext cx="2697480" cy="777240"/>
          </a:xfrm>
          <a:prstGeom prst="roundRect">
            <a:avLst>
              <a:gd name="adj" fmla="val 35000"/>
            </a:avLst>
          </a:prstGeom>
          <a:solidFill>
            <a:srgbClr val="071C24"/>
          </a:solidFill>
          <a:ln w="19050">
            <a:solidFill>
              <a:srgbClr val="218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864608"/>
            <a:ext cx="2514600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218896"/>
                </a:solidFill>
                <a:latin typeface="Calibri"/>
              </a:rPr>
              <a:t>Agnostic to mitigation method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4754880"/>
            <a:ext cx="2697480" cy="777240"/>
          </a:xfrm>
          <a:prstGeom prst="roundRect">
            <a:avLst>
              <a:gd name="adj" fmla="val 35000"/>
            </a:avLst>
          </a:prstGeom>
          <a:solidFill>
            <a:srgbClr val="071C24"/>
          </a:solidFill>
          <a:ln w="19050">
            <a:solidFill>
              <a:srgbClr val="E69A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4864608"/>
            <a:ext cx="2514600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E69A21"/>
                </a:solidFill>
                <a:latin typeface="Calibri"/>
              </a:rPr>
              <a:t>Research prototype, not medical device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E9E4D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E9E4D6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Planned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Patient stream  -  flip indicator  -  four modules  -  Inspector report</a:t>
            </a:r>
          </a:p>
        </p:txBody>
      </p:sp>
      <p:pic>
        <p:nvPicPr>
          <p:cNvPr id="6" name="Picture 5" descr="fig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698480" cy="55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98932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6066"/>
                </a:solidFill>
                <a:latin typeface="Calibri"/>
              </a:rPr>
              <a:t>Four modules: Flip Hazard [24]; per-cell shrunk-GROW e-process [18, 19]; aleatoric / epistemic decomposition [21]; RCAP Wasserstein-1 rank shift [23].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How CHRONO-Fair extends VFR-Audit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Same verdict-flip object, lifted to a time-resolved curve with an alarm</a:t>
            </a:r>
          </a:p>
        </p:txBody>
      </p:sp>
      <p:pic>
        <p:nvPicPr>
          <p:cNvPr id="6" name="Picture 5" descr="fig_concept_vfr_to_chro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11247120" cy="4553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98932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6066"/>
                </a:solidFill>
                <a:latin typeface="Calibri"/>
              </a:rPr>
              <a:t>Scalar VFR is recovered as 1 - S at the audit horizon. The framework adds the time axis, the anytime-valid alarm rule, and the diagnostic triage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How each planned module closes one identified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Contribution map, gap by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2743200" cy="960120"/>
          </a:xfrm>
          <a:prstGeom prst="roundRect">
            <a:avLst>
              <a:gd name="adj" fmla="val 20000"/>
            </a:avLst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560320" cy="59436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0E2B36"/>
                </a:solidFill>
                <a:latin typeface="Calibri"/>
              </a:rPr>
              <a:t>Gap 1: Time axis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83280" y="1828800"/>
            <a:ext cx="457200" cy="320040"/>
          </a:xfrm>
          <a:prstGeom prst="rightArrow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77639" y="1508760"/>
            <a:ext cx="77724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77639" y="1508760"/>
            <a:ext cx="73152" cy="960120"/>
          </a:xfrm>
          <a:prstGeom prst="rect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519" y="1581912"/>
            <a:ext cx="74980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218896"/>
                </a:solidFill>
                <a:latin typeface="Calibri"/>
              </a:rPr>
              <a:t>Flip Hazard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19" y="2011680"/>
            <a:ext cx="749808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Per-arrival survival curve instead of a single scalar [24].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60320"/>
            <a:ext cx="2743200" cy="960120"/>
          </a:xfrm>
          <a:prstGeom prst="roundRect">
            <a:avLst>
              <a:gd name="adj" fmla="val 20000"/>
            </a:avLst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2560320" cy="59436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0E2B36"/>
                </a:solidFill>
                <a:latin typeface="Calibri"/>
              </a:rPr>
              <a:t>Gap 2: Peeking penalty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383280" y="2880360"/>
            <a:ext cx="457200" cy="320040"/>
          </a:xfrm>
          <a:prstGeom prst="rightArrow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77639" y="2560320"/>
            <a:ext cx="77724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77639" y="2560320"/>
            <a:ext cx="73152" cy="960120"/>
          </a:xfrm>
          <a:prstGeom prst="rect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19" y="2633472"/>
            <a:ext cx="74980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218896"/>
                </a:solidFill>
                <a:latin typeface="Calibri"/>
              </a:rPr>
              <a:t>Per-cell anytime-valid e-process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19" y="3063240"/>
            <a:ext cx="749808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Type-I control per cell at every inspection step [18, 19, 20].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11880"/>
            <a:ext cx="2743200" cy="960120"/>
          </a:xfrm>
          <a:prstGeom prst="roundRect">
            <a:avLst>
              <a:gd name="adj" fmla="val 20000"/>
            </a:avLst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94760"/>
            <a:ext cx="2560320" cy="59436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0E2B36"/>
                </a:solidFill>
                <a:latin typeface="Calibri"/>
              </a:rPr>
              <a:t>Gap 3: Diagnostic interpretation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383280" y="3931920"/>
            <a:ext cx="457200" cy="320040"/>
          </a:xfrm>
          <a:prstGeom prst="rightArrow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77639" y="3611880"/>
            <a:ext cx="77724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3611880"/>
            <a:ext cx="73152" cy="960120"/>
          </a:xfrm>
          <a:prstGeom prst="rect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60519" y="3685032"/>
            <a:ext cx="74980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218896"/>
                </a:solidFill>
                <a:latin typeface="Calibri"/>
              </a:rPr>
              <a:t>Aleatoric / epistemic decomposition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19" y="4114800"/>
            <a:ext cx="749808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Triage label (data, model, mixed) per alarmed cell [21].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663440"/>
            <a:ext cx="2743200" cy="960120"/>
          </a:xfrm>
          <a:prstGeom prst="roundRect">
            <a:avLst>
              <a:gd name="adj" fmla="val 20000"/>
            </a:avLst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846320"/>
            <a:ext cx="2560320" cy="59436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300" b="1" i="0">
                <a:solidFill>
                  <a:srgbClr val="0E2B36"/>
                </a:solidFill>
                <a:latin typeface="Calibri"/>
              </a:rPr>
              <a:t>Gap 4: Regression output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383280" y="4983480"/>
            <a:ext cx="457200" cy="320040"/>
          </a:xfrm>
          <a:prstGeom prst="rightArrow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77639" y="4663440"/>
            <a:ext cx="77724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77639" y="4663440"/>
            <a:ext cx="73152" cy="960120"/>
          </a:xfrm>
          <a:prstGeom prst="rect">
            <a:avLst/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19" y="4736592"/>
            <a:ext cx="749808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218896"/>
                </a:solidFill>
                <a:latin typeface="Calibri"/>
              </a:rPr>
              <a:t>RCAP, Wasserstein-1 on rank positions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19" y="5166360"/>
            <a:ext cx="749808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 i="0">
                <a:solidFill>
                  <a:srgbClr val="5A6066"/>
                </a:solidFill>
                <a:latin typeface="Calibri"/>
              </a:rPr>
              <a:t>Counterfactual rank shift for length-of-stay regression [23].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Method discipline: what we will NOT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Honest scope before any submission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11247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73152" cy="8686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81912"/>
            <a:ext cx="10972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Per-cell anytime-valid Type-I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1097280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5A6066"/>
                </a:solidFill>
                <a:latin typeface="Calibri"/>
              </a:rPr>
              <a:t>YES, under Ville inequality [18, 19].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68880"/>
            <a:ext cx="11247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68880"/>
            <a:ext cx="73152" cy="8686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0972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Step-wise Benjamini-Hochberg across 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71800"/>
            <a:ext cx="1097280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5A6066"/>
                </a:solidFill>
                <a:latin typeface="Calibri"/>
              </a:rPr>
              <a:t>Applied at inspection time only. NOT a time-uniform online FDR guarantee [25, 26].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29000"/>
            <a:ext cx="11247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73152" cy="8686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02152"/>
            <a:ext cx="10972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Diagnostic attribution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319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5A6066"/>
                </a:solidFill>
                <a:latin typeface="Calibri"/>
              </a:rPr>
              <a:t>Aleatoric / epistemic triage signal. NOT a confirmed causal root cause [21].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389120"/>
            <a:ext cx="11247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389120"/>
            <a:ext cx="73152" cy="8686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2272"/>
            <a:ext cx="10972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Counterfactual definition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92040"/>
            <a:ext cx="1097280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5A6066"/>
                </a:solidFill>
                <a:latin typeface="Calibri"/>
              </a:rPr>
              <a:t>Feature-shift, computable at inference time. Weaker than SCM-based counterfactual fairness [27, 28]. May under-flag indirect effects.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49240"/>
            <a:ext cx="112471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349240"/>
            <a:ext cx="73152" cy="8686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422392"/>
            <a:ext cx="109728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Clinical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52160"/>
            <a:ext cx="1097280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50" b="0" i="0">
                <a:solidFill>
                  <a:srgbClr val="5A6066"/>
                </a:solidFill>
                <a:latin typeface="Calibri"/>
              </a:rPr>
              <a:t>Controlled replay and simulation only. NOT prospective EHR deployment.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Plan: how the gap will actually be closed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Four phases, with status as of this meeting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371600" cy="594360"/>
          </a:xfrm>
          <a:prstGeom prst="roundRect">
            <a:avLst>
              <a:gd name="adj" fmla="val 30000"/>
            </a:avLst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81912"/>
            <a:ext cx="137160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 i="0">
                <a:solidFill>
                  <a:srgbClr val="F3EFE3"/>
                </a:solidFill>
                <a:latin typeface="Calibri"/>
              </a:rPr>
              <a:t>Phase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508760"/>
            <a:ext cx="97383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0" y="1508760"/>
            <a:ext cx="73152" cy="10972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81912"/>
            <a:ext cx="946404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Controlled-validation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011680"/>
            <a:ext cx="9464040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5A6066"/>
                </a:solidFill>
                <a:latin typeface="Calibri"/>
              </a:rPr>
              <a:t>Real Texas-100X batch + Texas-100X-calibrated streaming / replay (detection delay, false-alarm calibration, sensitivity, four-attribute audit, quarter and hospital replays, robustness stress tests). Status: drafted, in revision for Q1 submission.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97480"/>
            <a:ext cx="1371600" cy="594360"/>
          </a:xfrm>
          <a:prstGeom prst="roundRect">
            <a:avLst>
              <a:gd name="adj" fmla="val 30000"/>
            </a:avLst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70632"/>
            <a:ext cx="137160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 i="0">
                <a:solidFill>
                  <a:srgbClr val="F3EFE3"/>
                </a:solidFill>
                <a:latin typeface="Calibri"/>
              </a:rPr>
              <a:t>Phase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2697480"/>
            <a:ext cx="97383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2697480"/>
            <a:ext cx="73152" cy="10972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770632"/>
            <a:ext cx="946404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Methodological strengthening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200400"/>
            <a:ext cx="9464040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5A6066"/>
                </a:solidFill>
                <a:latin typeface="Calibri"/>
              </a:rPr>
              <a:t>Replace step-wise BH with a time-uniform online FDR procedure [25, 26]. Counterfactual-sensitivity study across swap / feature-shift / SCM-based definitions [27, 28]. Status: planned for next revision.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371600" cy="594360"/>
          </a:xfrm>
          <a:prstGeom prst="roundRect">
            <a:avLst>
              <a:gd name="adj" fmla="val 30000"/>
            </a:avLst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59352"/>
            <a:ext cx="137160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 i="0">
                <a:solidFill>
                  <a:srgbClr val="F3EFE3"/>
                </a:solidFill>
                <a:latin typeface="Calibri"/>
              </a:rPr>
              <a:t>Phase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3886200"/>
            <a:ext cx="97383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11680" y="3886200"/>
            <a:ext cx="73152" cy="10972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3959352"/>
            <a:ext cx="946404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Prospective evaluation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389120"/>
            <a:ext cx="9464040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5A6066"/>
                </a:solidFill>
                <a:latin typeface="Calibri"/>
              </a:rPr>
              <a:t>Site-partnered prospective EHR-stream validation. Governance-user evaluation of the Inspector report with clinical safety officers. Status: scoping, partner search in progress.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371600" cy="594360"/>
          </a:xfrm>
          <a:prstGeom prst="roundRect">
            <a:avLst>
              <a:gd name="adj" fmla="val 30000"/>
            </a:avLst>
          </a:prstGeom>
          <a:solidFill>
            <a:srgbClr val="218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148072"/>
            <a:ext cx="137160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 i="0">
                <a:solidFill>
                  <a:srgbClr val="F3EFE3"/>
                </a:solidFill>
                <a:latin typeface="Calibri"/>
              </a:rPr>
              <a:t>Phase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5074920"/>
            <a:ext cx="97383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11680" y="5074920"/>
            <a:ext cx="73152" cy="1097280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5148072"/>
            <a:ext cx="946404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E69A21"/>
                </a:solidFill>
                <a:latin typeface="Calibri"/>
              </a:rPr>
              <a:t>Artifact release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577840"/>
            <a:ext cx="9464040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5A6066"/>
                </a:solidFill>
                <a:latin typeface="Calibri"/>
              </a:rPr>
              <a:t>Anonymised proof-of-concept prototype, configuration files, random seeds, reproduction scripts. Released subject to anonymisation, institutional approval, and journal artifact-release requirements. Status: scheduled for camera-ready.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Asks for this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Where I would like supervisor guidance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627632"/>
            <a:ext cx="402336" cy="402336"/>
          </a:xfrm>
          <a:prstGeom prst="ellipse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402336" cy="40233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0E2B36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27632"/>
            <a:ext cx="1005840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0E2B36"/>
                </a:solidFill>
                <a:latin typeface="Calibri"/>
              </a:rPr>
              <a:t>Is the post-release monitoring framing the right contribution to lead the paper with, versus a methods-only framing of the per-cell e-process?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58568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402336" cy="40233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0E2B36"/>
                </a:solidFill>
                <a:latin typeface="Calibri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377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0E2B36"/>
                </a:solidFill>
                <a:latin typeface="Calibri"/>
              </a:rPr>
              <a:t>Is the Standard / Fair monitored-model setup table (real Texas-100X values from the prior VFR-Audit study) acceptable to cite as the predecessor without re-running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08376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3127248"/>
            <a:ext cx="402336" cy="402336"/>
          </a:xfrm>
          <a:prstGeom prst="ellipse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402336" cy="40233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0E2B36"/>
                </a:solidFill>
                <a:latin typeface="Calibri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127248"/>
            <a:ext cx="1005840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0E2B36"/>
                </a:solidFill>
                <a:latin typeface="Calibri"/>
              </a:rPr>
              <a:t>Which Q1 venue is best: Frontiers in Digital Health, npj Digital Medicine, JAMIA, JBI, or NEJM AI?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58184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877056"/>
            <a:ext cx="402336" cy="402336"/>
          </a:xfrm>
          <a:prstGeom prst="ellipse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77056"/>
            <a:ext cx="402336" cy="40233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0E2B36"/>
                </a:solidFill>
                <a:latin typeface="Calibri"/>
              </a:rPr>
              <a:t>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770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0E2B36"/>
                </a:solidFill>
                <a:latin typeface="Calibri"/>
              </a:rPr>
              <a:t>Should I add a second real cohort before submission (MIMIC-IV / eICU), or submit with single-dataset honesty plus a prospective-validation roadmap?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07992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626864"/>
            <a:ext cx="402336" cy="402336"/>
          </a:xfrm>
          <a:prstGeom prst="ellipse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26864"/>
            <a:ext cx="402336" cy="40233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0E2B36"/>
                </a:solidFill>
                <a:latin typeface="Calibri"/>
              </a:rPr>
              <a:t>Q5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6268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0E2B36"/>
                </a:solidFill>
                <a:latin typeface="Calibri"/>
              </a:rPr>
              <a:t>Defer artifact release to camera-ready, or supply a minimum-viable artifact preview with the submission for reviewer reproducibility?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5780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9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376672"/>
            <a:ext cx="402336" cy="402336"/>
          </a:xfrm>
          <a:prstGeom prst="ellipse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76672"/>
            <a:ext cx="402336" cy="40233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0E2B36"/>
                </a:solidFill>
                <a:latin typeface="Calibri"/>
              </a:rPr>
              <a:t>Q6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76672"/>
            <a:ext cx="1005840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200" b="0" i="0">
                <a:solidFill>
                  <a:srgbClr val="0E2B36"/>
                </a:solidFill>
                <a:latin typeface="Calibri"/>
              </a:rPr>
              <a:t>Timing: next-round submission within 6 to 8 weeks, or invest 2 to 3 months in Phase 2 methodological strengthening first?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Anchor streaming result from controlled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5A6066"/>
                </a:solidFill>
                <a:latin typeface="Calibri"/>
              </a:rPr>
              <a:t>Detection on a 10,000-patient stream, drift onset at patient 5,000, 50 Monte-Carlo runs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Detected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3EFE3"/>
                          </a:solidFill>
                          <a:latin typeface="Calibri"/>
                        </a:rPr>
                        <a:t>Mean delay (patients)</a:t>
                      </a:r>
                    </a:p>
                  </a:txBody>
                  <a:tcPr>
                    <a:solidFill>
                      <a:srgbClr val="0E2B36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CHRONO-Fair (per-cell e-process)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50 /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837 (median 828)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ADWIN (k = 1)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21 / 50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ADWIN (k = 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21 /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3,927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Davis-style ADWIN on fairness gap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21 / 50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3,904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Periodic batch (n = 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24 /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499 (no peeking control)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 b="1">
                          <a:solidFill>
                            <a:srgbClr val="0E2B36"/>
                          </a:solidFill>
                          <a:latin typeface="Calibri"/>
                        </a:rPr>
                        <a:t>Static VFR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>0 / 50</a:t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50">
                          <a:solidFill>
                            <a:srgbClr val="0E2B3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E9E4D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6066"/>
                </a:solidFill>
                <a:latin typeface="Calibri"/>
              </a:rPr>
              <a:t>Empirical false-alarm rate at or below the nominal alpha for every tested alpha [19, 29].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1" i="1">
                <a:solidFill>
                  <a:srgbClr val="C2433F"/>
                </a:solidFill>
                <a:latin typeface="Calibri"/>
              </a:rPr>
              <a:t>Streaming evidence is controlled replay and simulation. Not prospective clinical validation.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13 /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9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0E2B36"/>
                </a:solidFill>
                <a:latin typeface="Calibri"/>
              </a:rPr>
              <a:t>References cited in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532120" cy="4754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[1]  Wong et al. External validation of a widely implemented sepsis prediction model. JAMA Internal Medicine, 2021.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[2]  Davis et al. Quarterly subgroup-performance drift in a deployed VA model. npj Digital Medicine, 2025.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[3]  Obermeyer et al. Dissecting racial bias in a care-management algorithm. Science, 2019.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[4]  Seyyed-Kalantari et al. Underdiagnosis bias of artificial intelligence in chest X-ray. Nature Medicine, 2021.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[5]  Vyas et al. Hidden in plain sight: reconsidering race-based clinical algorithms. NEJM, 2020.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[6]  Habib et al. External validation of the Epic Sepsis Model in a regional health system. JAMA Network Open, 2021.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[7]  U.S. FDA. Predetermined Change Control Plan for AI/ML-enabled device software functions, final guidance, 2024.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[8]  European Parliament and Council. Regulation (EU) 2024/1689 (EU AI Act), 2024.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[9]  Vasey et al. DECIDE-AI reporting guideline. Nature Medicine, 2022.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[10] Collins et al. TRIPOD+AI statement. BMJ, 2024.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[11] Liu et al. Reporting guidelines for clinical trial reports of AI interventions (CONSORT-AI). Nature Medicine, 2020.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[12] Alderman et al. The STANDING Together consensus. Lancet Digital Health, 2025.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[13] Saleiro et al. Aequitas: a bias and fairness audit toolkit, 2018.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[14] Bird et al. Fairlearn: a toolkit for assessing and improving fairness, 2020.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[15] Bellamy et al. AI Fairness 360. IBM Journal of R&amp;D, 2019.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532120" cy="4754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[16] Microsoft Responsible AI Dashboard, 2022.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[17] Authors (anonymised). VFR-Audit: verdict-stability auditing on Texas-100X. Prior work cited in third person.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[18] Ville. Etude critique de la notion de collectif. 1939.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[19] Howard et al. Time-uniform, nonparametric, nonasymptotic confidence sequences. Annals of Statistics, 2021.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[20] Ramdas et al. Game-theoretic statistics and safe anytime-valid inference. Statistical Science, 2023.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[21] Hullermeier and Waegeman. Aleatoric and epistemic uncertainty in machine learning. Machine Learning, 2021.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[22] Maughan and Near. Prediction sensitivity, 2022.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[23] Cherian and Candes. Statistical inference for fairness auditing. JMLR, 2024.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[24] Kaplan and Meier. Nonparametric estimation from incomplete observations. JASA, 1958.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[25] Javanmard and Montanari. Online rules for control of false discovery rate. Annals of Statistics, 2018.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[26] Benjamini and Hochberg. Controlling the false discovery rate. JRSS-B, 1995.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[27] Kusner et al. Counterfactual fairness. NeurIPS, 2017.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[28] Chiappa. Path-specific counterfactual fairness. AAAI, 2019.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>
                <a:solidFill>
                  <a:srgbClr val="0E2B36"/>
                </a:solidFill>
                <a:latin typeface="Calibri"/>
              </a:rPr>
              <a:t>•  [29] Waudby-Smith and Ramdas. Estimating means of bounded random variables by betting. JRSS-B,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6066"/>
                </a:solidFill>
                <a:latin typeface="Calibri"/>
              </a:rPr>
              <a:t>CHRONO-Fair  -  Supervisor planning meeting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5A6066"/>
                </a:solidFill>
                <a:latin typeface="Calibri"/>
              </a:rPr>
              <a:t>14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