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>
                <a:solidFill>
                  <a:srgbClr val="FF8A3D"/>
                </a:solidFill>
                <a:latin typeface="Calibri"/>
              </a:rPr>
              <a:t>Supervisor planning meeting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65960"/>
            <a:ext cx="10515600" cy="1828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5600" b="1">
                <a:solidFill>
                  <a:srgbClr val="F2F4F8"/>
                </a:solidFill>
                <a:latin typeface="Calibri"/>
              </a:rPr>
              <a:t>CHRONO-Fair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108960"/>
            <a:ext cx="1051560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400" b="0">
                <a:solidFill>
                  <a:srgbClr val="F2F4F8"/>
                </a:solidFill>
                <a:latin typeface="Calibri"/>
              </a:rPr>
              <a:t>Time-Resolved Counterfactual Fairness Monitoring
for Clinical Machine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26280"/>
            <a:ext cx="105156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600" b="0">
                <a:solidFill>
                  <a:srgbClr val="B8C2D0"/>
                </a:solidFill>
                <a:latin typeface="Calibri"/>
              </a:rPr>
              <a:t>Extending our prior VFR-Audit three-axis framework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029200"/>
            <a:ext cx="105156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>
                <a:solidFill>
                  <a:srgbClr val="B8C2D0"/>
                </a:solidFill>
                <a:latin typeface="Calibri"/>
              </a:rPr>
              <a:t>Target venue: Q1 digital-health / health-informatics journal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943600"/>
            <a:ext cx="105156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>
                <a:solidFill>
                  <a:srgbClr val="B8C2D0"/>
                </a:solidFill>
                <a:latin typeface="Calibri"/>
              </a:rPr>
              <a:t>Anonymous draft  |  In-progress research, not finalised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502920" cy="73152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1005840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F2F4F8"/>
                </a:solidFill>
                <a:latin typeface="Calibri"/>
              </a:rPr>
              <a:t>Clinical ML is increasingly deployed, and subgroup failures are increasingly visible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188720"/>
            <a:ext cx="100584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>
                <a:solidFill>
                  <a:srgbClr val="B8C2D0"/>
                </a:solidFill>
                <a:latin typeface="Calibri"/>
              </a:rPr>
              <a:t>The setting our work targets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097280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>
                <a:solidFill>
                  <a:srgbClr val="F2F4F8"/>
                </a:solidFill>
                <a:latin typeface="Calibri"/>
              </a:rPr>
              <a:t>•  Risk scoring, length-of-stay prediction, and triage models are now widely in use in hospitals (Davis et al., npj Digital Medicine 2025; Wong et al., JAMA Internal Medicine 2021).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>
                <a:solidFill>
                  <a:srgbClr val="F2F4F8"/>
                </a:solidFill>
                <a:latin typeface="Calibri"/>
              </a:rPr>
              <a:t>•  Post-release subgroup failures have been documented across radiology, sepsis, kidney function, suicide-risk, and care-allocation models (Obermeyer et al., Science 2019; Seyyed-Kalantari et al., Nature Medicine 2021; Vyas et al., NEJM 2020).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>
                <a:solidFill>
                  <a:srgbClr val="F2F4F8"/>
                </a:solidFill>
                <a:latin typeface="Calibri"/>
              </a:rPr>
              <a:t>•  Regulatory and reporting expectations have shifted from one-off validation toward continuous lifecycle monitoring (FDA PCCP final guidance 2024; EU AI Act 2024; DECIDE-AI, TRIPOD+AI, CONSORT-AI, STANDING Together).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>
                <a:solidFill>
                  <a:srgbClr val="F2F4F8"/>
                </a:solidFill>
                <a:latin typeface="Calibri"/>
              </a:rPr>
              <a:t>•  Existing auditing tooling reports a thresholded fairness verdict on a fixed snapshot (Aequitas, Saleiro et al. 2018; Fairlearn, Bird et al. 2020; AIF360, Bellamy et al. 2018; Microsoft Responsible AI Dashboard).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>
                <a:solidFill>
                  <a:srgbClr val="F2F4F8"/>
                </a:solidFill>
                <a:latin typeface="Calibri"/>
              </a:rPr>
              <a:t>•  That verdict is the object hospitals act on, but the snapshot tells us nothing about its stability over time.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73152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>
                <a:solidFill>
                  <a:srgbClr val="B8C2D0"/>
                </a:solidFill>
                <a:latin typeface="Calibri"/>
              </a:rPr>
              <a:t>CHRONO-Fair  |  Supervisor planning meeting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64592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>
                <a:solidFill>
                  <a:srgbClr val="B8C2D0"/>
                </a:solidFill>
                <a:latin typeface="Calibri"/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502920" cy="73152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1005840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F2F4F8"/>
                </a:solidFill>
                <a:latin typeface="Calibri"/>
              </a:rPr>
              <a:t>What our prior VFR-Audit study contributed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188720"/>
            <a:ext cx="100584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>
                <a:solidFill>
                  <a:srgbClr val="B8C2D0"/>
                </a:solidFill>
                <a:latin typeface="Calibri"/>
              </a:rPr>
              <a:t>A static, batch verdict-stability framework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5486400" cy="4206240"/>
          </a:xfrm>
          <a:prstGeom prst="roundRect">
            <a:avLst>
              <a:gd name="adj" fmla="val 6000"/>
            </a:avLst>
          </a:prstGeom>
          <a:solidFill>
            <a:srgbClr val="152953"/>
          </a:solidFill>
          <a:ln w="9525">
            <a:solidFill>
              <a:srgbClr val="FF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87452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FF8A3D"/>
                </a:solidFill>
                <a:latin typeface="Calibri"/>
              </a:rPr>
              <a:t>Three-axis static auditing pipeline (prior work)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286000"/>
            <a:ext cx="521208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100">
                <a:solidFill>
                  <a:srgbClr val="F2F4F8"/>
                </a:solidFill>
                <a:latin typeface="Calibri"/>
              </a:rPr>
              <a:t>•  Axis 1: resampling fluctuation of the fairness verdict.</a:t>
            </a: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100">
                <a:solidFill>
                  <a:srgbClr val="F2F4F8"/>
                </a:solidFill>
                <a:latin typeface="Calibri"/>
              </a:rPr>
              <a:t>•  Axis 2: audit-size sensitivity of the fairness verdict.</a:t>
            </a: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100">
                <a:solidFill>
                  <a:srgbClr val="F2F4F8"/>
                </a:solidFill>
                <a:latin typeface="Calibri"/>
              </a:rPr>
              <a:t>•  Axis 3: cross-hospital-site agreement of the fairness verdict.</a:t>
            </a: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100">
                <a:solidFill>
                  <a:srgbClr val="F2F4F8"/>
                </a:solidFill>
                <a:latin typeface="Calibri"/>
              </a:rPr>
              <a:t>•  Defines the Verdict Flip Rate (VFR), a scalar measure of static verdict-stability.</a:t>
            </a: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100">
                <a:solidFill>
                  <a:srgbClr val="F2F4F8"/>
                </a:solidFill>
                <a:latin typeface="Calibri"/>
              </a:rPr>
              <a:t>•  Defines the Standard / Fair monitored-model setup at release time.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486400" cy="4206240"/>
          </a:xfrm>
          <a:prstGeom prst="roundRect">
            <a:avLst>
              <a:gd name="adj" fmla="val 6000"/>
            </a:avLst>
          </a:prstGeom>
          <a:solidFill>
            <a:srgbClr val="152953"/>
          </a:solidFill>
          <a:ln w="9525">
            <a:solidFill>
              <a:srgbClr val="FF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87452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FF8A3D"/>
                </a:solidFill>
                <a:latin typeface="Calibri"/>
              </a:rPr>
              <a:t>Empirical study (real Texas-100X, 925,128 records)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286000"/>
            <a:ext cx="521208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100">
                <a:solidFill>
                  <a:srgbClr val="F2F4F8"/>
                </a:solidFill>
                <a:latin typeface="Calibri"/>
              </a:rPr>
              <a:t>•  Race DI: 0.654  to  0.884    (Std fail to Fair pass)</a:t>
            </a: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100">
                <a:solidFill>
                  <a:srgbClr val="F2F4F8"/>
                </a:solidFill>
                <a:latin typeface="Calibri"/>
              </a:rPr>
              <a:t>•  Sex DI: 0.762  to  0.933    (Std fail to Fair pass)</a:t>
            </a: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100">
                <a:solidFill>
                  <a:srgbClr val="F2F4F8"/>
                </a:solidFill>
                <a:latin typeface="Calibri"/>
              </a:rPr>
              <a:t>•  Ethnicity DI: 0.832  to  0.962    (Std pass to Fair pass)</a:t>
            </a: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100">
                <a:solidFill>
                  <a:srgbClr val="F2F4F8"/>
                </a:solidFill>
                <a:latin typeface="Calibri"/>
              </a:rPr>
              <a:t>•  Age Group DI: 0.291  to  0.801    (Std fail to Fair pass)</a:t>
            </a: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100">
                <a:solidFill>
                  <a:srgbClr val="F2F4F8"/>
                </a:solidFill>
                <a:latin typeface="Calibri"/>
              </a:rPr>
              <a:t>•  Standard accuracy 0.8777   Fair accuracy 0.8248</a:t>
            </a: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100">
                <a:solidFill>
                  <a:srgbClr val="F2F4F8"/>
                </a:solidFill>
                <a:latin typeface="Calibri"/>
              </a:rPr>
              <a:t>•  Fair model reduces overall accuracy by 5.28 pp.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080760"/>
            <a:ext cx="1115568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>
                <a:solidFill>
                  <a:srgbClr val="B8C2D0"/>
                </a:solidFill>
                <a:latin typeface="Calibri"/>
              </a:rPr>
              <a:t>Cited as the static predecessor of the present work; the contribution here is a separate post-release monitoring layer, not a new mitigation pipeline.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73152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>
                <a:solidFill>
                  <a:srgbClr val="B8C2D0"/>
                </a:solidFill>
                <a:latin typeface="Calibri"/>
              </a:rPr>
              <a:t>CHRONO-Fair  |  Supervisor planning meeting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46520"/>
            <a:ext cx="164592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>
                <a:solidFill>
                  <a:srgbClr val="B8C2D0"/>
                </a:solidFill>
                <a:latin typeface="Calibri"/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502920" cy="73152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1005840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F2F4F8"/>
                </a:solidFill>
                <a:latin typeface="Calibri"/>
              </a:rPr>
              <a:t>The remaining gap: nothing in the literature tracks verdict flips over 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188720"/>
            <a:ext cx="100584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>
                <a:solidFill>
                  <a:srgbClr val="B8C2D0"/>
                </a:solidFill>
                <a:latin typeface="Calibri"/>
              </a:rPr>
              <a:t>What is missing in current fairness auditing tooling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11155680" cy="914400"/>
          </a:xfrm>
          <a:prstGeom prst="roundRect">
            <a:avLst>
              <a:gd name="adj" fmla="val 10000"/>
            </a:avLst>
          </a:prstGeom>
          <a:solidFill>
            <a:srgbClr val="152953"/>
          </a:solidFill>
          <a:ln w="9525">
            <a:solidFill>
              <a:srgbClr val="FF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01368"/>
            <a:ext cx="106984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FF8A3D"/>
                </a:solidFill>
                <a:latin typeface="Calibri"/>
              </a:rPr>
              <a:t>Anchor result from our own real Texas-100X audit (925,128 records)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21408"/>
            <a:ext cx="1069848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>
                <a:solidFill>
                  <a:srgbClr val="F2F4F8"/>
                </a:solidFill>
                <a:latin typeface="Calibri"/>
              </a:rPr>
              <a:t>The worst-group true-positive-rate verdict for race reads "fair" at 0.824, yet flips to "unfair" in 4 of 20 hospital-network resamples. A batch audit cannot tell us when, or whether, that verdict reversal recurs as new patients arrive.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88920"/>
            <a:ext cx="109728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>
                <a:solidFill>
                  <a:srgbClr val="FF8A3D"/>
                </a:solidFill>
                <a:latin typeface="Calibri"/>
              </a:rPr>
              <a:t>Four gaps follow from the present-day toolchain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246120"/>
            <a:ext cx="2743200" cy="2743200"/>
          </a:xfrm>
          <a:prstGeom prst="roundRect">
            <a:avLst>
              <a:gd name="adj" fmla="val 6000"/>
            </a:avLst>
          </a:prstGeom>
          <a:solidFill>
            <a:srgbClr val="152953"/>
          </a:solidFill>
          <a:ln w="9525">
            <a:solidFill>
              <a:srgbClr val="FF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33756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FF8A3D"/>
                </a:solidFill>
                <a:latin typeface="Calibri"/>
              </a:rPr>
              <a:t>Gap 1. Time axis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749040"/>
            <a:ext cx="246888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F2F4F8"/>
                </a:solidFill>
                <a:latin typeface="Calibri"/>
              </a:rPr>
              <a:t>Batch verdicts give no time-stamp for when a fairness gap opened (Aequitas; Fairlearn; AIF360).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29000" y="3246120"/>
            <a:ext cx="2743200" cy="2743200"/>
          </a:xfrm>
          <a:prstGeom prst="roundRect">
            <a:avLst>
              <a:gd name="adj" fmla="val 6000"/>
            </a:avLst>
          </a:prstGeom>
          <a:solidFill>
            <a:srgbClr val="152953"/>
          </a:solidFill>
          <a:ln w="9525">
            <a:solidFill>
              <a:srgbClr val="FF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66160" y="333756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FF8A3D"/>
                </a:solidFill>
                <a:latin typeface="Calibri"/>
              </a:rPr>
              <a:t>Gap 2. Peeking penalty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3749040"/>
            <a:ext cx="246888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F2F4F8"/>
                </a:solidFill>
                <a:latin typeface="Calibri"/>
              </a:rPr>
              <a:t>Repeated inspection inflates false-alarm rates without a sequential guarantee (Howard et al. 2021; Waudby-Smith and Ramdas 2024).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246120"/>
            <a:ext cx="2743200" cy="2743200"/>
          </a:xfrm>
          <a:prstGeom prst="roundRect">
            <a:avLst>
              <a:gd name="adj" fmla="val 6000"/>
            </a:avLst>
          </a:prstGeom>
          <a:solidFill>
            <a:srgbClr val="152953"/>
          </a:solidFill>
          <a:ln w="9525">
            <a:solidFill>
              <a:srgbClr val="FF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333756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FF8A3D"/>
                </a:solidFill>
                <a:latin typeface="Calibri"/>
              </a:rPr>
              <a:t>Gap 3. Diagnostic interpretation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3749040"/>
            <a:ext cx="246888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F2F4F8"/>
                </a:solidFill>
                <a:latin typeface="Calibri"/>
              </a:rPr>
              <a:t>A detected gap with no triage signal does not tell a team whether to fix data or collect more samples (Alghamdi et al. 2023).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89720" y="3246120"/>
            <a:ext cx="2743200" cy="2743200"/>
          </a:xfrm>
          <a:prstGeom prst="roundRect">
            <a:avLst>
              <a:gd name="adj" fmla="val 6000"/>
            </a:avLst>
          </a:prstGeom>
          <a:solidFill>
            <a:srgbClr val="152953"/>
          </a:solidFill>
          <a:ln w="9525">
            <a:solidFill>
              <a:srgbClr val="FF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0" y="333756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FF8A3D"/>
                </a:solidFill>
                <a:latin typeface="Calibri"/>
              </a:rPr>
              <a:t>Gap 4. Regression output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3749040"/>
            <a:ext cx="246888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F2F4F8"/>
                </a:solidFill>
                <a:latin typeface="Calibri"/>
              </a:rPr>
              <a:t>Length-of-stay and similar continuous outputs lack a flip-rate or verdict-stability extension (Cherian and Candes 2024).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73152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>
                <a:solidFill>
                  <a:srgbClr val="B8C2D0"/>
                </a:solidFill>
                <a:latin typeface="Calibri"/>
              </a:rPr>
              <a:t>CHRONO-Fair  |  Supervisor planning meeting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446520"/>
            <a:ext cx="164592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>
                <a:solidFill>
                  <a:srgbClr val="B8C2D0"/>
                </a:solidFill>
                <a:latin typeface="Calibri"/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502920" cy="73152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1005840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F2F4F8"/>
                </a:solidFill>
                <a:latin typeface="Calibri"/>
              </a:rPr>
              <a:t>Closest related work, named and positioned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188720"/>
            <a:ext cx="100584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>
                <a:solidFill>
                  <a:srgbClr val="B8C2D0"/>
                </a:solidFill>
                <a:latin typeface="Calibri"/>
              </a:rPr>
              <a:t>Each entry falls short on at least one axis the next slide names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783080"/>
            <a:ext cx="2926080" cy="4572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56232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300">
                <a:solidFill>
                  <a:srgbClr val="0F1E3D"/>
                </a:solidFill>
              </a:rPr>
              <a:t>Tool / work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0" y="1783080"/>
            <a:ext cx="1280160" cy="4572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1856232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300">
                <a:solidFill>
                  <a:srgbClr val="0F1E3D"/>
                </a:solidFill>
              </a:rPr>
              <a:t>Mode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0" y="1783080"/>
            <a:ext cx="4114800" cy="4572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0" y="1856232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300">
                <a:solidFill>
                  <a:srgbClr val="0F1E3D"/>
                </a:solidFill>
              </a:rPr>
              <a:t>What it gives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869680" y="1783080"/>
            <a:ext cx="3291840" cy="4572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0" y="1856232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300">
                <a:solidFill>
                  <a:srgbClr val="0F1E3D"/>
                </a:solidFill>
              </a:rPr>
              <a:t>Closest gap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240280"/>
            <a:ext cx="2926080" cy="566928"/>
          </a:xfrm>
          <a:prstGeom prst="rect">
            <a:avLst/>
          </a:prstGeom>
          <a:solidFill>
            <a:srgbClr val="152953"/>
          </a:solidFill>
          <a:ln w="5080">
            <a:solidFill>
              <a:srgbClr val="FF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331720"/>
            <a:ext cx="2743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2F4F8"/>
                </a:solidFill>
              </a:rPr>
              <a:t>Aequitas (Saleiro et al. 2018)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74720" y="2240280"/>
            <a:ext cx="1280160" cy="566928"/>
          </a:xfrm>
          <a:prstGeom prst="rect">
            <a:avLst/>
          </a:prstGeom>
          <a:solidFill>
            <a:srgbClr val="152953"/>
          </a:solidFill>
          <a:ln w="5080">
            <a:solidFill>
              <a:srgbClr val="FF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66160" y="2331720"/>
            <a:ext cx="1097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F2F4F8"/>
                </a:solidFill>
              </a:rPr>
              <a:t>Batch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54880" y="2240280"/>
            <a:ext cx="4114800" cy="566928"/>
          </a:xfrm>
          <a:prstGeom prst="rect">
            <a:avLst/>
          </a:prstGeom>
          <a:solidFill>
            <a:srgbClr val="152953"/>
          </a:solidFill>
          <a:ln w="5080">
            <a:solidFill>
              <a:srgbClr val="FF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46320" y="2331720"/>
            <a:ext cx="3931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F2F4F8"/>
                </a:solidFill>
              </a:rPr>
              <a:t>Per-attribute parity-ratio report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869680" y="2240280"/>
            <a:ext cx="3291840" cy="566928"/>
          </a:xfrm>
          <a:prstGeom prst="rect">
            <a:avLst/>
          </a:prstGeom>
          <a:solidFill>
            <a:srgbClr val="152953"/>
          </a:solidFill>
          <a:ln w="5080">
            <a:solidFill>
              <a:srgbClr val="FF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0" y="2331720"/>
            <a:ext cx="3108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F2F4F8"/>
                </a:solidFill>
              </a:rPr>
              <a:t>No streaming, no per-cell sequential alarm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2807208"/>
            <a:ext cx="2926080" cy="566928"/>
          </a:xfrm>
          <a:prstGeom prst="rect">
            <a:avLst/>
          </a:prstGeom>
          <a:solidFill>
            <a:srgbClr val="0F1E3D"/>
          </a:solidFill>
          <a:ln w="5080">
            <a:solidFill>
              <a:srgbClr val="FF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2898648"/>
            <a:ext cx="2743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2F4F8"/>
                </a:solidFill>
              </a:rPr>
              <a:t>Fairlearn (Bird et al. 2020)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74720" y="2807208"/>
            <a:ext cx="1280160" cy="566928"/>
          </a:xfrm>
          <a:prstGeom prst="rect">
            <a:avLst/>
          </a:prstGeom>
          <a:solidFill>
            <a:srgbClr val="0F1E3D"/>
          </a:solidFill>
          <a:ln w="5080">
            <a:solidFill>
              <a:srgbClr val="FF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66160" y="2898648"/>
            <a:ext cx="1097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F2F4F8"/>
                </a:solidFill>
              </a:rPr>
              <a:t>Batch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54880" y="2807208"/>
            <a:ext cx="4114800" cy="566928"/>
          </a:xfrm>
          <a:prstGeom prst="rect">
            <a:avLst/>
          </a:prstGeom>
          <a:solidFill>
            <a:srgbClr val="0F1E3D"/>
          </a:solidFill>
          <a:ln w="5080">
            <a:solidFill>
              <a:srgbClr val="FF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46320" y="2898648"/>
            <a:ext cx="3931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F2F4F8"/>
                </a:solidFill>
              </a:rPr>
              <a:t>Group fairness metrics + reduction mitigator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69680" y="2807208"/>
            <a:ext cx="3291840" cy="566928"/>
          </a:xfrm>
          <a:prstGeom prst="rect">
            <a:avLst/>
          </a:prstGeom>
          <a:solidFill>
            <a:srgbClr val="0F1E3D"/>
          </a:solidFill>
          <a:ln w="5080">
            <a:solidFill>
              <a:srgbClr val="FF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61120" y="2898648"/>
            <a:ext cx="3108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F2F4F8"/>
                </a:solidFill>
              </a:rPr>
              <a:t>No verdict-flip monitoring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3374136"/>
            <a:ext cx="2926080" cy="566928"/>
          </a:xfrm>
          <a:prstGeom prst="rect">
            <a:avLst/>
          </a:prstGeom>
          <a:solidFill>
            <a:srgbClr val="152953"/>
          </a:solidFill>
          <a:ln w="5080">
            <a:solidFill>
              <a:srgbClr val="FF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3465576"/>
            <a:ext cx="2743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2F4F8"/>
                </a:solidFill>
              </a:rPr>
              <a:t>AIF360 (Bellamy et al. 2018)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474720" y="3374136"/>
            <a:ext cx="1280160" cy="566928"/>
          </a:xfrm>
          <a:prstGeom prst="rect">
            <a:avLst/>
          </a:prstGeom>
          <a:solidFill>
            <a:srgbClr val="152953"/>
          </a:solidFill>
          <a:ln w="5080">
            <a:solidFill>
              <a:srgbClr val="FF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66160" y="3465576"/>
            <a:ext cx="1097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F2F4F8"/>
                </a:solidFill>
              </a:rPr>
              <a:t>Batch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754880" y="3374136"/>
            <a:ext cx="4114800" cy="566928"/>
          </a:xfrm>
          <a:prstGeom prst="rect">
            <a:avLst/>
          </a:prstGeom>
          <a:solidFill>
            <a:srgbClr val="152953"/>
          </a:solidFill>
          <a:ln w="5080">
            <a:solidFill>
              <a:srgbClr val="FF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46320" y="3465576"/>
            <a:ext cx="3931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F2F4F8"/>
                </a:solidFill>
              </a:rPr>
              <a:t>Library of ~20 fairness metrics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869680" y="3374136"/>
            <a:ext cx="3291840" cy="566928"/>
          </a:xfrm>
          <a:prstGeom prst="rect">
            <a:avLst/>
          </a:prstGeom>
          <a:solidFill>
            <a:srgbClr val="152953"/>
          </a:solidFill>
          <a:ln w="5080">
            <a:solidFill>
              <a:srgbClr val="FF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61120" y="3465576"/>
            <a:ext cx="3108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F2F4F8"/>
                </a:solidFill>
              </a:rPr>
              <a:t>Inspection-time snapshot only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3941064"/>
            <a:ext cx="2926080" cy="566928"/>
          </a:xfrm>
          <a:prstGeom prst="rect">
            <a:avLst/>
          </a:prstGeom>
          <a:solidFill>
            <a:srgbClr val="0F1E3D"/>
          </a:solidFill>
          <a:ln w="5080">
            <a:solidFill>
              <a:srgbClr val="FF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4032504"/>
            <a:ext cx="2743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2F4F8"/>
                </a:solidFill>
              </a:rPr>
              <a:t>Microsoft RAI Dashboard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474720" y="3941064"/>
            <a:ext cx="1280160" cy="566928"/>
          </a:xfrm>
          <a:prstGeom prst="rect">
            <a:avLst/>
          </a:prstGeom>
          <a:solidFill>
            <a:srgbClr val="0F1E3D"/>
          </a:solidFill>
          <a:ln w="5080">
            <a:solidFill>
              <a:srgbClr val="FF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566160" y="4032504"/>
            <a:ext cx="1097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F2F4F8"/>
                </a:solidFill>
              </a:rPr>
              <a:t>Batch (notebook)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754880" y="3941064"/>
            <a:ext cx="4114800" cy="566928"/>
          </a:xfrm>
          <a:prstGeom prst="rect">
            <a:avLst/>
          </a:prstGeom>
          <a:solidFill>
            <a:srgbClr val="0F1E3D"/>
          </a:solidFill>
          <a:ln w="5080">
            <a:solidFill>
              <a:srgbClr val="FF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846320" y="4032504"/>
            <a:ext cx="3931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F2F4F8"/>
                </a:solidFill>
              </a:rPr>
              <a:t>Fairlearn + interpret + counterfactuals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869680" y="3941064"/>
            <a:ext cx="3291840" cy="566928"/>
          </a:xfrm>
          <a:prstGeom prst="rect">
            <a:avLst/>
          </a:prstGeom>
          <a:solidFill>
            <a:srgbClr val="0F1E3D"/>
          </a:solidFill>
          <a:ln w="5080">
            <a:solidFill>
              <a:srgbClr val="FF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961120" y="4032504"/>
            <a:ext cx="3108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F2F4F8"/>
                </a:solidFill>
              </a:rPr>
              <a:t>Aimed at developer review, not governance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8640" y="4507992"/>
            <a:ext cx="2926080" cy="566928"/>
          </a:xfrm>
          <a:prstGeom prst="rect">
            <a:avLst/>
          </a:prstGeom>
          <a:solidFill>
            <a:srgbClr val="152953"/>
          </a:solidFill>
          <a:ln w="5080">
            <a:solidFill>
              <a:srgbClr val="FF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" y="4599432"/>
            <a:ext cx="2743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2F4F8"/>
                </a:solidFill>
              </a:rPr>
              <a:t>Davis et al. (npj DM 2025)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474720" y="4507992"/>
            <a:ext cx="1280160" cy="566928"/>
          </a:xfrm>
          <a:prstGeom prst="rect">
            <a:avLst/>
          </a:prstGeom>
          <a:solidFill>
            <a:srgbClr val="152953"/>
          </a:solidFill>
          <a:ln w="5080">
            <a:solidFill>
              <a:srgbClr val="FF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566160" y="4599432"/>
            <a:ext cx="1097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F2F4F8"/>
                </a:solidFill>
              </a:rPr>
              <a:t>Quarterly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754880" y="4507992"/>
            <a:ext cx="4114800" cy="566928"/>
          </a:xfrm>
          <a:prstGeom prst="rect">
            <a:avLst/>
          </a:prstGeom>
          <a:solidFill>
            <a:srgbClr val="152953"/>
          </a:solidFill>
          <a:ln w="5080">
            <a:solidFill>
              <a:srgbClr val="FF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846320" y="4599432"/>
            <a:ext cx="3931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F2F4F8"/>
                </a:solidFill>
              </a:rPr>
              <a:t>Subgroup performance over 11 yrs of VA data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869680" y="4507992"/>
            <a:ext cx="3291840" cy="566928"/>
          </a:xfrm>
          <a:prstGeom prst="rect">
            <a:avLst/>
          </a:prstGeom>
          <a:solidFill>
            <a:srgbClr val="152953"/>
          </a:solidFill>
          <a:ln w="5080">
            <a:solidFill>
              <a:srgbClr val="FF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961120" y="4599432"/>
            <a:ext cx="3108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F2F4F8"/>
                </a:solidFill>
              </a:rPr>
              <a:t>No per-cell sequential alarm; single metric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8640" y="5074920"/>
            <a:ext cx="2926080" cy="566928"/>
          </a:xfrm>
          <a:prstGeom prst="rect">
            <a:avLst/>
          </a:prstGeom>
          <a:solidFill>
            <a:srgbClr val="0F1E3D"/>
          </a:solidFill>
          <a:ln w="5080">
            <a:solidFill>
              <a:srgbClr val="FF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0080" y="5166360"/>
            <a:ext cx="2743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2F4F8"/>
                </a:solidFill>
              </a:rPr>
              <a:t>VFR-Audit (prior work)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474720" y="5074920"/>
            <a:ext cx="1280160" cy="566928"/>
          </a:xfrm>
          <a:prstGeom prst="rect">
            <a:avLst/>
          </a:prstGeom>
          <a:solidFill>
            <a:srgbClr val="0F1E3D"/>
          </a:solidFill>
          <a:ln w="5080">
            <a:solidFill>
              <a:srgbClr val="FF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566160" y="5166360"/>
            <a:ext cx="1097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F2F4F8"/>
                </a:solidFill>
              </a:rPr>
              <a:t>Static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754880" y="5074920"/>
            <a:ext cx="4114800" cy="566928"/>
          </a:xfrm>
          <a:prstGeom prst="rect">
            <a:avLst/>
          </a:prstGeom>
          <a:solidFill>
            <a:srgbClr val="0F1E3D"/>
          </a:solidFill>
          <a:ln w="5080">
            <a:solidFill>
              <a:srgbClr val="FF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846320" y="5166360"/>
            <a:ext cx="3931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F2F4F8"/>
                </a:solidFill>
              </a:rPr>
              <a:t>Verdict Flip Rate scalar on Texas-100X batch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869680" y="5074920"/>
            <a:ext cx="3291840" cy="566928"/>
          </a:xfrm>
          <a:prstGeom prst="rect">
            <a:avLst/>
          </a:prstGeom>
          <a:solidFill>
            <a:srgbClr val="0F1E3D"/>
          </a:solidFill>
          <a:ln w="5080">
            <a:solidFill>
              <a:srgbClr val="FF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961120" y="5166360"/>
            <a:ext cx="3108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F2F4F8"/>
                </a:solidFill>
              </a:rPr>
              <a:t>No time axis; no per-patient alarm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48640" y="6263640"/>
            <a:ext cx="111556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>
                <a:solidFill>
                  <a:srgbClr val="B8C2D0"/>
                </a:solidFill>
                <a:latin typeface="Calibri"/>
              </a:rPr>
              <a:t>Statistical machinery for anytime-valid inference exists (Ville 1939; Howard et al. 2021; Waudby-Smith and Ramdas 2024; Ramdas et al. 2023) but has not been applied to counterfactual fairness verdicts at intersectional granularity.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65760" y="6446520"/>
            <a:ext cx="73152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>
                <a:solidFill>
                  <a:srgbClr val="B8C2D0"/>
                </a:solidFill>
                <a:latin typeface="Calibri"/>
              </a:rPr>
              <a:t>CHRONO-Fair  |  Supervisor planning meeting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515600" y="6446520"/>
            <a:ext cx="164592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>
                <a:solidFill>
                  <a:srgbClr val="B8C2D0"/>
                </a:solidFill>
                <a:latin typeface="Calibri"/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502920" cy="73152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1005840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F2F4F8"/>
                </a:solidFill>
                <a:latin typeface="Calibri"/>
              </a:rPr>
              <a:t>Our planned extension, in one sentence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188720"/>
            <a:ext cx="100584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>
                <a:solidFill>
                  <a:srgbClr val="B8C2D0"/>
                </a:solidFill>
                <a:latin typeface="Calibri"/>
              </a:rPr>
              <a:t>CHRONO-Fair adds the missing time-resolved layer above the prior VFR-Audit setup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286000"/>
            <a:ext cx="10332720" cy="2011680"/>
          </a:xfrm>
          <a:prstGeom prst="roundRect">
            <a:avLst>
              <a:gd name="adj" fmla="val 10000"/>
            </a:avLst>
          </a:prstGeom>
          <a:solidFill>
            <a:srgbClr val="152953"/>
          </a:solidFill>
          <a:ln w="15240">
            <a:solidFill>
              <a:srgbClr val="FF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514600"/>
            <a:ext cx="9784080" cy="1371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2200" b="1">
                <a:solidFill>
                  <a:srgbClr val="F2F4F8"/>
                </a:solidFill>
                <a:latin typeface="Calibri"/>
              </a:rPr>
              <a:t>CHRONO-Fair contributes a post-release, time-resolved monitoring layer for thresholded fairness verdicts using a per-cell anytime-valid e-process on counterfactual flip indicators.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572000"/>
            <a:ext cx="2651760" cy="502920"/>
          </a:xfrm>
          <a:prstGeom prst="roundRect">
            <a:avLst>
              <a:gd name="adj" fmla="val 40000"/>
            </a:avLst>
          </a:prstGeom>
          <a:solidFill>
            <a:srgbClr val="0F1E3D"/>
          </a:solidFill>
          <a:ln w="12700">
            <a:solidFill>
              <a:srgbClr val="36BE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4617720"/>
            <a:ext cx="260604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36BEB0"/>
                </a:solidFill>
              </a:rPr>
              <a:t>Monitor, not a mitigator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11880" y="4572000"/>
            <a:ext cx="2651760" cy="502920"/>
          </a:xfrm>
          <a:prstGeom prst="roundRect">
            <a:avLst>
              <a:gd name="adj" fmla="val 40000"/>
            </a:avLst>
          </a:prstGeom>
          <a:solidFill>
            <a:srgbClr val="0F1E3D"/>
          </a:solidFill>
          <a:ln w="12700">
            <a:solidFill>
              <a:srgbClr val="FF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4617720"/>
            <a:ext cx="260604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FF8A3D"/>
                </a:solidFill>
              </a:rPr>
              <a:t>Begins after Standard to Fair transition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4572000"/>
            <a:ext cx="2651760" cy="502920"/>
          </a:xfrm>
          <a:prstGeom prst="roundRect">
            <a:avLst>
              <a:gd name="adj" fmla="val 40000"/>
            </a:avLst>
          </a:prstGeom>
          <a:solidFill>
            <a:srgbClr val="0F1E3D"/>
          </a:solidFill>
          <a:ln w="12700">
            <a:solidFill>
              <a:srgbClr val="36BE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4617720"/>
            <a:ext cx="260604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36BEB0"/>
                </a:solidFill>
              </a:rPr>
              <a:t>Agnostic to the upstream mitigation method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06840" y="4572000"/>
            <a:ext cx="2651760" cy="502920"/>
          </a:xfrm>
          <a:prstGeom prst="roundRect">
            <a:avLst>
              <a:gd name="adj" fmla="val 40000"/>
            </a:avLst>
          </a:prstGeom>
          <a:solidFill>
            <a:srgbClr val="0F1E3D"/>
          </a:solidFill>
          <a:ln w="12700">
            <a:solidFill>
              <a:srgbClr val="FF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0" y="4617720"/>
            <a:ext cx="260604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FF8A3D"/>
                </a:solidFill>
              </a:rPr>
              <a:t>Research prototype, not a medical device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73152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>
                <a:solidFill>
                  <a:srgbClr val="B8C2D0"/>
                </a:solidFill>
                <a:latin typeface="Calibri"/>
              </a:rPr>
              <a:t>CHRONO-Fair  |  Supervisor planning meeting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446520"/>
            <a:ext cx="164592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>
                <a:solidFill>
                  <a:srgbClr val="B8C2D0"/>
                </a:solidFill>
                <a:latin typeface="Calibri"/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502920" cy="73152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1005840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F2F4F8"/>
                </a:solidFill>
                <a:latin typeface="Calibri"/>
              </a:rPr>
              <a:t>Planned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188720"/>
            <a:ext cx="100584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>
                <a:solidFill>
                  <a:srgbClr val="B8C2D0"/>
                </a:solidFill>
                <a:latin typeface="Calibri"/>
              </a:rPr>
              <a:t>Patient stream  to  flip indicator  to  four modules  to  Inspector report</a:t>
            </a:r>
          </a:p>
        </p:txBody>
      </p:sp>
      <p:pic>
        <p:nvPicPr>
          <p:cNvPr id="6" name="Picture 5" descr="fig0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691640"/>
            <a:ext cx="10515600" cy="546240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5943600"/>
            <a:ext cx="1115568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>
                <a:solidFill>
                  <a:srgbClr val="B8C2D0"/>
                </a:solidFill>
                <a:latin typeface="Calibri"/>
              </a:rPr>
              <a:t>Four modules: Flip Hazard survival (Kaplan and Meier 1958); per-cell shrunk-GROW e-process (Ville 1939; Howard et al. 2021; Waudby-Smith and Ramdas 2024); aleatoric/epistemic decomposition (Hullermeier and Waegeman 2021; Depeweg et al. 2018); RCAP Wasserstein-1 rank shift.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73152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>
                <a:solidFill>
                  <a:srgbClr val="B8C2D0"/>
                </a:solidFill>
                <a:latin typeface="Calibri"/>
              </a:rPr>
              <a:t>CHRONO-Fair  |  Supervisor planning meeting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64592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>
                <a:solidFill>
                  <a:srgbClr val="B8C2D0"/>
                </a:solidFill>
                <a:latin typeface="Calibri"/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502920" cy="73152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1005840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F2F4F8"/>
                </a:solidFill>
                <a:latin typeface="Calibri"/>
              </a:rPr>
              <a:t>How CHRONO-Fair extends VFR-Audit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188720"/>
            <a:ext cx="100584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>
                <a:solidFill>
                  <a:srgbClr val="B8C2D0"/>
                </a:solidFill>
                <a:latin typeface="Calibri"/>
              </a:rPr>
              <a:t>Same verdict-flip object, lifted from a scalar to a time-resolved curve with an alarm</a:t>
            </a:r>
          </a:p>
        </p:txBody>
      </p:sp>
      <p:pic>
        <p:nvPicPr>
          <p:cNvPr id="6" name="Picture 5" descr="fig_concept_vfr_to_chron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91640"/>
            <a:ext cx="10881360" cy="440497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5943600"/>
            <a:ext cx="1115568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>
                <a:solidFill>
                  <a:srgbClr val="B8C2D0"/>
                </a:solidFill>
                <a:latin typeface="Calibri"/>
              </a:rPr>
              <a:t>Scalar VFR is recovered as 1 minus S at the audit horizon (Joy et al., anonymous draft). CHRONO-Fair adds the time axis, the alarm rule, and the diagnostic triage that the scalar cannot give.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73152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>
                <a:solidFill>
                  <a:srgbClr val="B8C2D0"/>
                </a:solidFill>
                <a:latin typeface="Calibri"/>
              </a:rPr>
              <a:t>CHRONO-Fair  |  Supervisor planning meeting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64592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>
                <a:solidFill>
                  <a:srgbClr val="B8C2D0"/>
                </a:solidFill>
                <a:latin typeface="Calibri"/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502920" cy="73152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1005840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F2F4F8"/>
                </a:solidFill>
                <a:latin typeface="Calibri"/>
              </a:rPr>
              <a:t>How each planned module closes one identified gap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188720"/>
            <a:ext cx="100584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>
                <a:solidFill>
                  <a:srgbClr val="B8C2D0"/>
                </a:solidFill>
                <a:latin typeface="Calibri"/>
              </a:rPr>
              <a:t>Contribution map, gap by gap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2743200" cy="868680"/>
          </a:xfrm>
          <a:prstGeom prst="roundRect">
            <a:avLst>
              <a:gd name="adj" fmla="val 25000"/>
            </a:avLst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47672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1E3D"/>
                </a:solidFill>
              </a:rPr>
              <a:t>Gap 1: Time axis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337560" y="2075688"/>
            <a:ext cx="365760" cy="274320"/>
          </a:xfrm>
          <a:prstGeom prst="rightArrow">
            <a:avLst/>
          </a:prstGeom>
          <a:solidFill>
            <a:srgbClr val="36BE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0" y="1828800"/>
            <a:ext cx="786384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>
                <a:solidFill>
                  <a:srgbClr val="F2F4F8"/>
                </a:solidFill>
                <a:latin typeface="Calibri"/>
              </a:rPr>
              <a:t>Flip Hazard estimator (KM / Nelson-Aalen / log-rank / RMFT)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240280"/>
            <a:ext cx="786384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>
                <a:solidFill>
                  <a:srgbClr val="B8C2D0"/>
                </a:solidFill>
                <a:latin typeface="Calibri"/>
              </a:rPr>
              <a:t>Per-arrival-index survival curve instead of a single scalar.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788920"/>
            <a:ext cx="2743200" cy="868680"/>
          </a:xfrm>
          <a:prstGeom prst="roundRect">
            <a:avLst>
              <a:gd name="adj" fmla="val 25000"/>
            </a:avLst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953512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1E3D"/>
                </a:solidFill>
              </a:rPr>
              <a:t>Gap 2: Peeking penalty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337560" y="3081528"/>
            <a:ext cx="365760" cy="274320"/>
          </a:xfrm>
          <a:prstGeom prst="rightArrow">
            <a:avLst/>
          </a:prstGeom>
          <a:solidFill>
            <a:srgbClr val="36BE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0" y="2834640"/>
            <a:ext cx="786384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>
                <a:solidFill>
                  <a:srgbClr val="F2F4F8"/>
                </a:solidFill>
                <a:latin typeface="Calibri"/>
              </a:rPr>
              <a:t>Per-cell shrunk-GROW e-process (Ville 1939)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3246120"/>
            <a:ext cx="786384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>
                <a:solidFill>
                  <a:srgbClr val="B8C2D0"/>
                </a:solidFill>
                <a:latin typeface="Calibri"/>
              </a:rPr>
              <a:t>Anytime-valid Type-I control per cell at every inspection step.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794760"/>
            <a:ext cx="2743200" cy="868680"/>
          </a:xfrm>
          <a:prstGeom prst="roundRect">
            <a:avLst>
              <a:gd name="adj" fmla="val 25000"/>
            </a:avLst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959352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1E3D"/>
                </a:solidFill>
              </a:rPr>
              <a:t>Gap 3: Diagnostic interpretation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3337560" y="4087368"/>
            <a:ext cx="365760" cy="274320"/>
          </a:xfrm>
          <a:prstGeom prst="rightArrow">
            <a:avLst/>
          </a:prstGeom>
          <a:solidFill>
            <a:srgbClr val="36BE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40480" y="3840480"/>
            <a:ext cx="786384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>
                <a:solidFill>
                  <a:srgbClr val="F2F4F8"/>
                </a:solidFill>
                <a:latin typeface="Calibri"/>
              </a:rPr>
              <a:t>Aleatoric / epistemic decomposition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4251960"/>
            <a:ext cx="786384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>
                <a:solidFill>
                  <a:srgbClr val="B8C2D0"/>
                </a:solidFill>
                <a:latin typeface="Calibri"/>
              </a:rPr>
              <a:t>Triage label (data, model, mixed) attached to every alarmed cell.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800600"/>
            <a:ext cx="2743200" cy="868680"/>
          </a:xfrm>
          <a:prstGeom prst="roundRect">
            <a:avLst>
              <a:gd name="adj" fmla="val 25000"/>
            </a:avLst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965192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1E3D"/>
                </a:solidFill>
              </a:rPr>
              <a:t>Gap 4: Regression output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3337560" y="5093208"/>
            <a:ext cx="365760" cy="274320"/>
          </a:xfrm>
          <a:prstGeom prst="rightArrow">
            <a:avLst/>
          </a:prstGeom>
          <a:solidFill>
            <a:srgbClr val="36BE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40480" y="4846320"/>
            <a:ext cx="786384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>
                <a:solidFill>
                  <a:srgbClr val="F2F4F8"/>
                </a:solidFill>
                <a:latin typeface="Calibri"/>
              </a:rPr>
              <a:t>RCAP, Wasserstein-1 on rank positions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0" y="5257800"/>
            <a:ext cx="786384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>
                <a:solidFill>
                  <a:srgbClr val="B8C2D0"/>
                </a:solidFill>
                <a:latin typeface="Calibri"/>
              </a:rPr>
              <a:t>Counterfactual rank-position shift for length-of-stay regression.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73152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>
                <a:solidFill>
                  <a:srgbClr val="B8C2D0"/>
                </a:solidFill>
                <a:latin typeface="Calibri"/>
              </a:rPr>
              <a:t>CHRONO-Fair  |  Supervisor planning meeting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446520"/>
            <a:ext cx="164592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>
                <a:solidFill>
                  <a:srgbClr val="B8C2D0"/>
                </a:solidFill>
                <a:latin typeface="Calibri"/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502920" cy="73152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1005840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F2F4F8"/>
                </a:solidFill>
                <a:latin typeface="Calibri"/>
              </a:rPr>
              <a:t>Method discipline: what we will NOT claim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188720"/>
            <a:ext cx="100584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>
                <a:solidFill>
                  <a:srgbClr val="B8C2D0"/>
                </a:solidFill>
                <a:latin typeface="Calibri"/>
              </a:rPr>
              <a:t>Honest scope before any submission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11155680" cy="868680"/>
          </a:xfrm>
          <a:prstGeom prst="roundRect">
            <a:avLst>
              <a:gd name="adj" fmla="val 6000"/>
            </a:avLst>
          </a:prstGeom>
          <a:solidFill>
            <a:srgbClr val="152953"/>
          </a:solidFill>
          <a:ln w="9525">
            <a:solidFill>
              <a:srgbClr val="FF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FF8A3D"/>
                </a:solidFill>
                <a:latin typeface="Calibri"/>
              </a:rPr>
              <a:t>Per-cell anytime-valid Type-I control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9456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F2F4F8"/>
                </a:solidFill>
                <a:latin typeface="Calibri"/>
              </a:rPr>
              <a:t>YES, under Ville inequality (Ville 1939; Howard et al. 2021)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606040"/>
            <a:ext cx="11155680" cy="868680"/>
          </a:xfrm>
          <a:prstGeom prst="roundRect">
            <a:avLst>
              <a:gd name="adj" fmla="val 6000"/>
            </a:avLst>
          </a:prstGeom>
          <a:solidFill>
            <a:srgbClr val="152953"/>
          </a:solidFill>
          <a:ln w="9525">
            <a:solidFill>
              <a:srgbClr val="FF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69748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FF8A3D"/>
                </a:solidFill>
                <a:latin typeface="Calibri"/>
              </a:rPr>
              <a:t>Step-wise Benjamini-Hochberg across cells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10896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F2F4F8"/>
                </a:solidFill>
                <a:latin typeface="Calibri"/>
              </a:rPr>
              <a:t>Applied at inspection time only. NOT a time-uniform online FDR guarantee (Benjamini and Hochberg 1995; Javanmard and Montanari 2018 for LORD as a future-work alternative).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520440"/>
            <a:ext cx="11155680" cy="868680"/>
          </a:xfrm>
          <a:prstGeom prst="roundRect">
            <a:avLst>
              <a:gd name="adj" fmla="val 6000"/>
            </a:avLst>
          </a:prstGeom>
          <a:solidFill>
            <a:srgbClr val="152953"/>
          </a:solidFill>
          <a:ln w="9525">
            <a:solidFill>
              <a:srgbClr val="FF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61188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FF8A3D"/>
                </a:solidFill>
                <a:latin typeface="Calibri"/>
              </a:rPr>
              <a:t>Diagnostic attribution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02336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F2F4F8"/>
                </a:solidFill>
                <a:latin typeface="Calibri"/>
              </a:rPr>
              <a:t>Aleatoric / epistemic triage signal. NOT a confirmed causal root cause (Hullermeier and Waegeman 2021).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434840"/>
            <a:ext cx="11155680" cy="868680"/>
          </a:xfrm>
          <a:prstGeom prst="roundRect">
            <a:avLst>
              <a:gd name="adj" fmla="val 6000"/>
            </a:avLst>
          </a:prstGeom>
          <a:solidFill>
            <a:srgbClr val="152953"/>
          </a:solidFill>
          <a:ln w="9525">
            <a:solidFill>
              <a:srgbClr val="FF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452628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FF8A3D"/>
                </a:solidFill>
                <a:latin typeface="Calibri"/>
              </a:rPr>
              <a:t>Counterfactual definition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93776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F2F4F8"/>
                </a:solidFill>
                <a:latin typeface="Calibri"/>
              </a:rPr>
              <a:t>Feature-shift, computable at inference time. Weaker than SCM-based counterfactual fairness (Kusner et al. 2017; Chiappa 2019). May under-flag indirect effects.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349240"/>
            <a:ext cx="11155680" cy="868680"/>
          </a:xfrm>
          <a:prstGeom prst="roundRect">
            <a:avLst>
              <a:gd name="adj" fmla="val 6000"/>
            </a:avLst>
          </a:prstGeom>
          <a:solidFill>
            <a:srgbClr val="152953"/>
          </a:solidFill>
          <a:ln w="9525">
            <a:solidFill>
              <a:srgbClr val="FF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544068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FF8A3D"/>
                </a:solidFill>
                <a:latin typeface="Calibri"/>
              </a:rPr>
              <a:t>Clinical deployment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85216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F2F4F8"/>
                </a:solidFill>
                <a:latin typeface="Calibri"/>
              </a:rPr>
              <a:t>Controlled replay and simulation only. NOT prospective EHR deployment. CHRONO-Fair is a research prototype, not a medical device.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446520"/>
            <a:ext cx="73152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>
                <a:solidFill>
                  <a:srgbClr val="B8C2D0"/>
                </a:solidFill>
                <a:latin typeface="Calibri"/>
              </a:rPr>
              <a:t>CHRONO-Fair  |  Supervisor planning meeting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446520"/>
            <a:ext cx="164592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>
                <a:solidFill>
                  <a:srgbClr val="B8C2D0"/>
                </a:solidFill>
                <a:latin typeface="Calibri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502920" cy="73152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1005840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F2F4F8"/>
                </a:solidFill>
                <a:latin typeface="Calibri"/>
              </a:rPr>
              <a:t>Plan: what we will do to actually close each gap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188720"/>
            <a:ext cx="100584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>
                <a:solidFill>
                  <a:srgbClr val="B8C2D0"/>
                </a:solidFill>
                <a:latin typeface="Calibri"/>
              </a:rPr>
              <a:t>Concrete next steps from supervisor meeting onward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1371600" cy="502920"/>
          </a:xfrm>
          <a:prstGeom prst="roundRect">
            <a:avLst>
              <a:gd name="adj" fmla="val 35000"/>
            </a:avLst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746504"/>
            <a:ext cx="13716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200" b="1">
                <a:solidFill>
                  <a:srgbClr val="0F1E3D"/>
                </a:solidFill>
                <a:latin typeface="Calibri"/>
              </a:rPr>
              <a:t>Phase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57400" y="1673352"/>
            <a:ext cx="97840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>
                <a:solidFill>
                  <a:srgbClr val="FF8A3D"/>
                </a:solidFill>
                <a:latin typeface="Calibri"/>
              </a:rPr>
              <a:t>Controlled-validation evidence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57400" y="2057400"/>
            <a:ext cx="97840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50">
                <a:solidFill>
                  <a:srgbClr val="F2F4F8"/>
                </a:solidFill>
                <a:latin typeface="Calibri"/>
              </a:rPr>
              <a:t>•  Real Texas-100X batch verdict-stability anchor.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50">
                <a:solidFill>
                  <a:srgbClr val="F2F4F8"/>
                </a:solidFill>
                <a:latin typeface="Calibri"/>
              </a:rPr>
              <a:t>•  Texas-100X-calibrated controlled streaming and replay (detection delay, false-alarm calibration, sensitivity, four-attribute audit, quarter-based and hospital-group replays).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50">
                <a:solidFill>
                  <a:srgbClr val="F2F4F8"/>
                </a:solidFill>
                <a:latin typeface="Calibri"/>
              </a:rPr>
              <a:t>•  Robustness / stress tests (rho_0 miscalibration, small intersectional cells, label delay).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50">
                <a:solidFill>
                  <a:srgbClr val="F2F4F8"/>
                </a:solidFill>
                <a:latin typeface="Calibri"/>
              </a:rPr>
              <a:t>•  Status: drafted, in revision for Q1 journal submission.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834640"/>
            <a:ext cx="1371600" cy="502920"/>
          </a:xfrm>
          <a:prstGeom prst="roundRect">
            <a:avLst>
              <a:gd name="adj" fmla="val 35000"/>
            </a:avLst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889504"/>
            <a:ext cx="13716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200" b="1">
                <a:solidFill>
                  <a:srgbClr val="0F1E3D"/>
                </a:solidFill>
                <a:latin typeface="Calibri"/>
              </a:rPr>
              <a:t>Phase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2816352"/>
            <a:ext cx="97840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>
                <a:solidFill>
                  <a:srgbClr val="FF8A3D"/>
                </a:solidFill>
                <a:latin typeface="Calibri"/>
              </a:rPr>
              <a:t>Methodological strengthening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57400" y="3200400"/>
            <a:ext cx="97840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50">
                <a:solidFill>
                  <a:srgbClr val="F2F4F8"/>
                </a:solidFill>
                <a:latin typeface="Calibri"/>
              </a:rPr>
              <a:t>•  Replace step-wise BH with a time-uniform online FDR procedure (LORD, SAFFRON, e-BH).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50">
                <a:solidFill>
                  <a:srgbClr val="F2F4F8"/>
                </a:solidFill>
                <a:latin typeface="Calibri"/>
              </a:rPr>
              <a:t>•  Counterfactual-sensitivity study across swap, feature-shift, and SCM-based definitions (Kusner et al. 2017; Chiappa 2019).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50">
                <a:solidFill>
                  <a:srgbClr val="F2F4F8"/>
                </a:solidFill>
                <a:latin typeface="Calibri"/>
              </a:rPr>
              <a:t>•  Status: planned for the next revision round.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977640"/>
            <a:ext cx="1371600" cy="502920"/>
          </a:xfrm>
          <a:prstGeom prst="roundRect">
            <a:avLst>
              <a:gd name="adj" fmla="val 35000"/>
            </a:avLst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4032504"/>
            <a:ext cx="13716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200" b="1">
                <a:solidFill>
                  <a:srgbClr val="0F1E3D"/>
                </a:solidFill>
                <a:latin typeface="Calibri"/>
              </a:rPr>
              <a:t>Phase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57400" y="3959352"/>
            <a:ext cx="97840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>
                <a:solidFill>
                  <a:srgbClr val="FF8A3D"/>
                </a:solidFill>
                <a:latin typeface="Calibri"/>
              </a:rPr>
              <a:t>Prospective evaluation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4343400"/>
            <a:ext cx="97840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50">
                <a:solidFill>
                  <a:srgbClr val="F2F4F8"/>
                </a:solidFill>
                <a:latin typeface="Calibri"/>
              </a:rPr>
              <a:t>•  Site-partnered prospective EHR-stream validation on the deployment site own cohort.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50">
                <a:solidFill>
                  <a:srgbClr val="F2F4F8"/>
                </a:solidFill>
                <a:latin typeface="Calibri"/>
              </a:rPr>
              <a:t>•  Governance-user evaluation of the Inspector report with clinical safety officers.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50">
                <a:solidFill>
                  <a:srgbClr val="F2F4F8"/>
                </a:solidFill>
                <a:latin typeface="Calibri"/>
              </a:rPr>
              <a:t>•  Status: scoping discussion, partner search in progress.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120640"/>
            <a:ext cx="1371600" cy="502920"/>
          </a:xfrm>
          <a:prstGeom prst="roundRect">
            <a:avLst>
              <a:gd name="adj" fmla="val 35000"/>
            </a:avLst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5175504"/>
            <a:ext cx="13716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200" b="1">
                <a:solidFill>
                  <a:srgbClr val="0F1E3D"/>
                </a:solidFill>
                <a:latin typeface="Calibri"/>
              </a:rPr>
              <a:t>Phase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5102352"/>
            <a:ext cx="97840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>
                <a:solidFill>
                  <a:srgbClr val="FF8A3D"/>
                </a:solidFill>
                <a:latin typeface="Calibri"/>
              </a:rPr>
              <a:t>Artifact release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57400" y="5486400"/>
            <a:ext cx="97840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50">
                <a:solidFill>
                  <a:srgbClr val="F2F4F8"/>
                </a:solidFill>
                <a:latin typeface="Calibri"/>
              </a:rPr>
              <a:t>•  Anonymised proof-of-concept research prototype, configuration files, random seeds, reproduction scripts.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50">
                <a:solidFill>
                  <a:srgbClr val="F2F4F8"/>
                </a:solidFill>
                <a:latin typeface="Calibri"/>
              </a:rPr>
              <a:t>•  Released subject to anonymisation, institutional approval, and journal artifact-release requirements.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50">
                <a:solidFill>
                  <a:srgbClr val="F2F4F8"/>
                </a:solidFill>
                <a:latin typeface="Calibri"/>
              </a:rPr>
              <a:t>•  Status: scheduled for camera-ready stage.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73152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>
                <a:solidFill>
                  <a:srgbClr val="B8C2D0"/>
                </a:solidFill>
                <a:latin typeface="Calibri"/>
              </a:rPr>
              <a:t>CHRONO-Fair  |  Supervisor planning meeting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446520"/>
            <a:ext cx="164592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>
                <a:solidFill>
                  <a:srgbClr val="B8C2D0"/>
                </a:solidFill>
                <a:latin typeface="Calibri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502920" cy="73152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1005840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F2F4F8"/>
                </a:solidFill>
                <a:latin typeface="Calibri"/>
              </a:rPr>
              <a:t>Asks for this meeting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188720"/>
            <a:ext cx="100584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>
                <a:solidFill>
                  <a:srgbClr val="B8C2D0"/>
                </a:solidFill>
                <a:latin typeface="Calibri"/>
              </a:rPr>
              <a:t>What I would like guidance 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11155680" cy="566928"/>
          </a:xfrm>
          <a:prstGeom prst="roundRect">
            <a:avLst>
              <a:gd name="adj" fmla="val 20000"/>
            </a:avLst>
          </a:prstGeom>
          <a:solidFill>
            <a:srgbClr val="152953"/>
          </a:solidFill>
          <a:ln w="6350">
            <a:solidFill>
              <a:srgbClr val="FF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54864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>
                <a:solidFill>
                  <a:srgbClr val="FF8A3D"/>
                </a:solidFill>
                <a:latin typeface="Calibri"/>
              </a:rPr>
              <a:t>Q1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810512"/>
            <a:ext cx="1024128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>
                <a:solidFill>
                  <a:srgbClr val="F2F4F8"/>
                </a:solidFill>
                <a:latin typeface="Calibri"/>
              </a:rPr>
              <a:t>Is the post-release monitoring framing the right contribution to lead the paper with? (versus methodological framing of the per-cell e-process alone)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350008"/>
            <a:ext cx="11155680" cy="566928"/>
          </a:xfrm>
          <a:prstGeom prst="roundRect">
            <a:avLst>
              <a:gd name="adj" fmla="val 20000"/>
            </a:avLst>
          </a:prstGeom>
          <a:solidFill>
            <a:srgbClr val="152953"/>
          </a:solidFill>
          <a:ln w="6350">
            <a:solidFill>
              <a:srgbClr val="FF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441448"/>
            <a:ext cx="54864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>
                <a:solidFill>
                  <a:srgbClr val="FF8A3D"/>
                </a:solidFill>
                <a:latin typeface="Calibri"/>
              </a:rPr>
              <a:t>Q2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468880"/>
            <a:ext cx="1024128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>
                <a:solidFill>
                  <a:srgbClr val="F2F4F8"/>
                </a:solidFill>
                <a:latin typeface="Calibri"/>
              </a:rPr>
              <a:t>Is the Standard / Fair monitored-model setup table (real Texas-100X values from the prior VFR-Audit study) acceptable to cite as the predecessor without re-running it?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008376"/>
            <a:ext cx="11155680" cy="566928"/>
          </a:xfrm>
          <a:prstGeom prst="roundRect">
            <a:avLst>
              <a:gd name="adj" fmla="val 20000"/>
            </a:avLst>
          </a:prstGeom>
          <a:solidFill>
            <a:srgbClr val="152953"/>
          </a:solidFill>
          <a:ln w="6350">
            <a:solidFill>
              <a:srgbClr val="FF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099816"/>
            <a:ext cx="54864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>
                <a:solidFill>
                  <a:srgbClr val="FF8A3D"/>
                </a:solidFill>
                <a:latin typeface="Calibri"/>
              </a:rPr>
              <a:t>Q3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127248"/>
            <a:ext cx="1024128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>
                <a:solidFill>
                  <a:srgbClr val="F2F4F8"/>
                </a:solidFill>
                <a:latin typeface="Calibri"/>
              </a:rPr>
              <a:t>Which Q1 venue is best for this work? Frontiers in Digital Health, npj Digital Medicine, JAMIA, JBI, or NEJM AI?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666744"/>
            <a:ext cx="11155680" cy="566928"/>
          </a:xfrm>
          <a:prstGeom prst="roundRect">
            <a:avLst>
              <a:gd name="adj" fmla="val 20000"/>
            </a:avLst>
          </a:prstGeom>
          <a:solidFill>
            <a:srgbClr val="152953"/>
          </a:solidFill>
          <a:ln w="6350">
            <a:solidFill>
              <a:srgbClr val="FF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758184"/>
            <a:ext cx="54864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>
                <a:solidFill>
                  <a:srgbClr val="FF8A3D"/>
                </a:solidFill>
                <a:latin typeface="Calibri"/>
              </a:rPr>
              <a:t>Q4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3785616"/>
            <a:ext cx="1024128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>
                <a:solidFill>
                  <a:srgbClr val="F2F4F8"/>
                </a:solidFill>
                <a:latin typeface="Calibri"/>
              </a:rPr>
              <a:t>Should I add a second real cohort before submission (MIMIC-IV, eICU) or submit with single-dataset honesty and a clear prospective-validation roadmap?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325112"/>
            <a:ext cx="11155680" cy="566928"/>
          </a:xfrm>
          <a:prstGeom prst="roundRect">
            <a:avLst>
              <a:gd name="adj" fmla="val 20000"/>
            </a:avLst>
          </a:prstGeom>
          <a:solidFill>
            <a:srgbClr val="152953"/>
          </a:solidFill>
          <a:ln w="6350">
            <a:solidFill>
              <a:srgbClr val="FF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416552"/>
            <a:ext cx="54864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>
                <a:solidFill>
                  <a:srgbClr val="FF8A3D"/>
                </a:solidFill>
                <a:latin typeface="Calibri"/>
              </a:rPr>
              <a:t>Q5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443984"/>
            <a:ext cx="1024128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>
                <a:solidFill>
                  <a:srgbClr val="F2F4F8"/>
                </a:solidFill>
                <a:latin typeface="Calibri"/>
              </a:rPr>
              <a:t>Acceptable to defer artifact release to camera-ready, or should a minimum-viable artifact preview accompany the submission for reviewer reproducibility?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983480"/>
            <a:ext cx="11155680" cy="566928"/>
          </a:xfrm>
          <a:prstGeom prst="roundRect">
            <a:avLst>
              <a:gd name="adj" fmla="val 20000"/>
            </a:avLst>
          </a:prstGeom>
          <a:solidFill>
            <a:srgbClr val="152953"/>
          </a:solidFill>
          <a:ln w="6350">
            <a:solidFill>
              <a:srgbClr val="FF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074920"/>
            <a:ext cx="54864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>
                <a:solidFill>
                  <a:srgbClr val="FF8A3D"/>
                </a:solidFill>
                <a:latin typeface="Calibri"/>
              </a:rPr>
              <a:t>Q6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5102352"/>
            <a:ext cx="1024128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>
                <a:solidFill>
                  <a:srgbClr val="F2F4F8"/>
                </a:solidFill>
                <a:latin typeface="Calibri"/>
              </a:rPr>
              <a:t>Timing: aim for next-round submission within 6 to 8 weeks, or invest 2 to 3 months in Phase 2 methodological strengthening first?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73152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>
                <a:solidFill>
                  <a:srgbClr val="B8C2D0"/>
                </a:solidFill>
                <a:latin typeface="Calibri"/>
              </a:rPr>
              <a:t>CHRONO-Fair  |  Supervisor planning meeting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446520"/>
            <a:ext cx="164592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>
                <a:solidFill>
                  <a:srgbClr val="B8C2D0"/>
                </a:solidFill>
                <a:latin typeface="Calibri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